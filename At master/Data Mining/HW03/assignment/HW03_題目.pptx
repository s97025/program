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7"/>
  </p:notesMasterIdLst>
  <p:sldIdLst>
    <p:sldId id="256" r:id="rId2"/>
    <p:sldId id="257" r:id="rId3"/>
    <p:sldId id="258" r:id="rId4"/>
    <p:sldId id="259" r:id="rId5"/>
    <p:sldId id="260" r:id="rId6"/>
    <p:sldId id="288" r:id="rId7"/>
    <p:sldId id="261" r:id="rId8"/>
    <p:sldId id="262" r:id="rId9"/>
    <p:sldId id="286" r:id="rId10"/>
    <p:sldId id="289" r:id="rId11"/>
    <p:sldId id="263" r:id="rId12"/>
    <p:sldId id="287" r:id="rId13"/>
    <p:sldId id="290"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9144000" cy="5143500" type="screen16x9"/>
  <p:notesSz cx="6858000" cy="9144000"/>
  <p:embeddedFontLst>
    <p:embeddedFont>
      <p:font typeface="Cambria Math" panose="02040503050406030204" pitchFamily="18" charset="0"/>
      <p:regular r:id="rId38"/>
    </p:embeddedFont>
    <p:embeddedFont>
      <p:font typeface="Lato" panose="020F0502020204030203" pitchFamily="34" charset="0"/>
      <p:regular r:id="rId39"/>
      <p:bold r:id="rId40"/>
      <p:italic r:id="rId41"/>
      <p:boldItalic r:id="rId42"/>
    </p:embeddedFont>
    <p:embeddedFont>
      <p:font typeface="Noto Sans Mono" panose="02020500000000000000" charset="0"/>
      <p:regular r:id="rId43"/>
      <p:bold r:id="rId44"/>
    </p:embeddedFont>
    <p:embeddedFont>
      <p:font typeface="Proxima Nova" panose="02020500000000000000" charset="0"/>
      <p:regular r:id="rId45"/>
      <p:bold r:id="rId46"/>
      <p:italic r:id="rId47"/>
      <p:boldItalic r:id="rId48"/>
    </p:embeddedFont>
    <p:embeddedFont>
      <p:font typeface="Raleway"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74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603ce62d7d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603ce62d7d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603ce62d7d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603ce62d7d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6fb8aca18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6fb8aca18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d0dbdc0731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d0dbdc073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d0dbdc0731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d0dbdc073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6442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6fb8aca187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6fb8aca18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6fb8aca18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6fb8aca18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6fb8aca187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6fb8aca18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603ce62d7d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603ce62d7d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6fb8aca187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6fb8aca18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603ce62d7d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603ce62d7d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603ce62d7d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603ce62d7d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d0e367794e_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d0e367794e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d0dbdc0731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d0dbdc073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d0dbdc073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d0dbdc07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d0dbdc0731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d0dbdc073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d0dbdc073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d0dbdc073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d0dbdc0731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d0dbdc073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d0dbdc0731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d0dbdc073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d0dbdc0731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d0dbdc073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603ce62d7d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603ce62d7d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d0dbdc0731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d0dbdc0731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d0dbdc0731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d0dbdc0731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4f3687257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4f368725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4f36872572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4f36872572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4f36872572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4f36872572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4f36872572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4f36872572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603ce62d7d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603ce62d7d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d0dbdc0731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d0dbdc0731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603ce62d7d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603ce62d7d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wikidata.org/wiki/Wikidata:Main_Page"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kaggle.com/t/ca120acea50b4a6fbafebf5c533876e3"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4jRBRDbJemM"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mailto:bwchen@cs.nycu.edu.tw"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zh-TW" sz="2700"/>
              <a:t>Data Mining</a:t>
            </a:r>
            <a:endParaRPr sz="2700"/>
          </a:p>
          <a:p>
            <a:pPr marL="0" lvl="0" indent="0" algn="l" rtl="0">
              <a:spcBef>
                <a:spcPts val="0"/>
              </a:spcBef>
              <a:spcAft>
                <a:spcPts val="0"/>
              </a:spcAft>
              <a:buSzPts val="990"/>
              <a:buNone/>
            </a:pPr>
            <a:endParaRPr sz="2700"/>
          </a:p>
          <a:p>
            <a:pPr marL="0" lvl="0" indent="0" algn="ctr" rtl="0">
              <a:spcBef>
                <a:spcPts val="0"/>
              </a:spcBef>
              <a:spcAft>
                <a:spcPts val="0"/>
              </a:spcAft>
              <a:buSzPts val="990"/>
              <a:buNone/>
            </a:pPr>
            <a:r>
              <a:rPr lang="zh-TW" sz="2400"/>
              <a:t>HW3: News Recommendation Prediction</a:t>
            </a:r>
            <a:endParaRPr sz="2400"/>
          </a:p>
        </p:txBody>
      </p:sp>
      <p:sp>
        <p:nvSpPr>
          <p:cNvPr id="87" name="Google Shape;87;p13"/>
          <p:cNvSpPr txBox="1">
            <a:spLocks noGrp="1"/>
          </p:cNvSpPr>
          <p:nvPr>
            <p:ph type="subTitle" idx="1"/>
          </p:nvPr>
        </p:nvSpPr>
        <p:spPr>
          <a:xfrm>
            <a:off x="729625" y="3172900"/>
            <a:ext cx="7688100" cy="100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zh-TW" sz="1800">
                <a:latin typeface="Noto Sans Mono"/>
                <a:ea typeface="Noto Sans Mono"/>
                <a:cs typeface="Noto Sans Mono"/>
                <a:sym typeface="Noto Sans Mono"/>
              </a:rPr>
              <a:t>TA: Hank Chen</a:t>
            </a:r>
            <a:endParaRPr sz="1800">
              <a:latin typeface="Noto Sans Mono"/>
              <a:ea typeface="Noto Sans Mono"/>
              <a:cs typeface="Noto Sans Mono"/>
              <a:sym typeface="Noto Sans Mono"/>
            </a:endParaRPr>
          </a:p>
          <a:p>
            <a:pPr marL="0" lvl="0" indent="0" algn="ctr" rtl="0">
              <a:spcBef>
                <a:spcPts val="0"/>
              </a:spcBef>
              <a:spcAft>
                <a:spcPts val="0"/>
              </a:spcAft>
              <a:buNone/>
            </a:pPr>
            <a:endParaRPr sz="1800">
              <a:latin typeface="Noto Sans Mono"/>
              <a:ea typeface="Noto Sans Mono"/>
              <a:cs typeface="Noto Sans Mono"/>
              <a:sym typeface="Noto Sans Mono"/>
            </a:endParaRPr>
          </a:p>
          <a:p>
            <a:pPr marL="0" lvl="0" indent="0" algn="ctr" rtl="0">
              <a:spcBef>
                <a:spcPts val="0"/>
              </a:spcBef>
              <a:spcAft>
                <a:spcPts val="0"/>
              </a:spcAft>
              <a:buNone/>
            </a:pPr>
            <a:r>
              <a:rPr lang="zh-TW" sz="1800">
                <a:latin typeface="Noto Sans Mono"/>
                <a:ea typeface="Noto Sans Mono"/>
                <a:cs typeface="Noto Sans Mono"/>
                <a:sym typeface="Noto Sans Mono"/>
              </a:rPr>
              <a:t>h7a4n1k.cs12@nycu.edu.tw</a:t>
            </a:r>
            <a:endParaRPr sz="1800">
              <a:latin typeface="Noto Sans Mono"/>
              <a:ea typeface="Noto Sans Mono"/>
              <a:cs typeface="Noto Sans Mono"/>
              <a:sym typeface="Noto Sans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Task Description</a:t>
            </a:r>
            <a:endParaRPr/>
          </a:p>
        </p:txBody>
      </p:sp>
      <p:sp>
        <p:nvSpPr>
          <p:cNvPr id="93" name="Google Shape;93;p14"/>
          <p:cNvSpPr txBox="1">
            <a:spLocks noGrp="1"/>
          </p:cNvSpPr>
          <p:nvPr>
            <p:ph type="body" idx="1"/>
          </p:nvPr>
        </p:nvSpPr>
        <p:spPr>
          <a:xfrm>
            <a:off x="776875" y="1965800"/>
            <a:ext cx="7809600" cy="2806800"/>
          </a:xfrm>
          <a:prstGeom prst="rect">
            <a:avLst/>
          </a:prstGeom>
        </p:spPr>
        <p:txBody>
          <a:bodyPr spcFirstLastPara="1" wrap="square" lIns="91425" tIns="91425" rIns="91425" bIns="91425" anchor="t" anchorCtr="0">
            <a:normAutofit fontScale="77500" lnSpcReduction="20000"/>
          </a:bodyPr>
          <a:lstStyle/>
          <a:p>
            <a:pPr marL="0" lvl="0" indent="0" algn="l" rtl="0">
              <a:lnSpc>
                <a:spcPct val="150000"/>
              </a:lnSpc>
              <a:spcBef>
                <a:spcPts val="0"/>
              </a:spcBef>
              <a:spcAft>
                <a:spcPts val="0"/>
              </a:spcAft>
              <a:buNone/>
            </a:pPr>
            <a:r>
              <a:rPr lang="zh-TW" sz="1600" b="1">
                <a:latin typeface="Noto Sans Mono"/>
                <a:ea typeface="Noto Sans Mono"/>
                <a:cs typeface="Noto Sans Mono"/>
                <a:sym typeface="Noto Sans Mono"/>
              </a:rPr>
              <a:t>Topic:</a:t>
            </a:r>
            <a:r>
              <a:rPr lang="zh-TW" sz="1600">
                <a:latin typeface="Noto Sans Mono"/>
                <a:ea typeface="Noto Sans Mono"/>
                <a:cs typeface="Noto Sans Mono"/>
                <a:sym typeface="Noto Sans Mono"/>
              </a:rPr>
              <a:t> News Recommendation Prediction</a:t>
            </a:r>
            <a:endParaRPr sz="1600">
              <a:latin typeface="Noto Sans Mono"/>
              <a:ea typeface="Noto Sans Mono"/>
              <a:cs typeface="Noto Sans Mono"/>
              <a:sym typeface="Noto Sans Mono"/>
            </a:endParaRPr>
          </a:p>
          <a:p>
            <a:pPr marL="0" lvl="0" indent="0" algn="l" rtl="0">
              <a:lnSpc>
                <a:spcPct val="150000"/>
              </a:lnSpc>
              <a:spcBef>
                <a:spcPts val="1200"/>
              </a:spcBef>
              <a:spcAft>
                <a:spcPts val="0"/>
              </a:spcAft>
              <a:buNone/>
            </a:pPr>
            <a:r>
              <a:rPr lang="zh-TW" sz="1600">
                <a:latin typeface="Noto Sans Mono"/>
                <a:ea typeface="Noto Sans Mono"/>
                <a:cs typeface="Noto Sans Mono"/>
                <a:sym typeface="Noto Sans Mono"/>
              </a:rPr>
              <a:t>You are given several entries of user interaction history, you need to use these information to predict whether a user will click on a news or not.</a:t>
            </a:r>
            <a:endParaRPr sz="1600">
              <a:latin typeface="Noto Sans Mono"/>
              <a:ea typeface="Noto Sans Mono"/>
              <a:cs typeface="Noto Sans Mono"/>
              <a:sym typeface="Noto Sans Mono"/>
            </a:endParaRPr>
          </a:p>
          <a:p>
            <a:pPr marL="0" lvl="0" indent="0" algn="l" rtl="0">
              <a:lnSpc>
                <a:spcPct val="150000"/>
              </a:lnSpc>
              <a:spcBef>
                <a:spcPts val="1200"/>
              </a:spcBef>
              <a:spcAft>
                <a:spcPts val="0"/>
              </a:spcAft>
              <a:buNone/>
            </a:pPr>
            <a:r>
              <a:rPr lang="zh-TW" sz="1600" b="1">
                <a:latin typeface="Noto Sans Mono"/>
                <a:ea typeface="Noto Sans Mono"/>
                <a:cs typeface="Noto Sans Mono"/>
                <a:sym typeface="Noto Sans Mono"/>
              </a:rPr>
              <a:t>Goal:</a:t>
            </a:r>
            <a:r>
              <a:rPr lang="zh-TW" sz="1600">
                <a:latin typeface="Noto Sans Mono"/>
                <a:ea typeface="Noto Sans Mono"/>
                <a:cs typeface="Noto Sans Mono"/>
                <a:sym typeface="Noto Sans Mono"/>
              </a:rPr>
              <a:t> Use </a:t>
            </a:r>
            <a:r>
              <a:rPr lang="zh-TW" sz="1600" b="1" u="sng">
                <a:latin typeface="Noto Sans Mono"/>
                <a:ea typeface="Noto Sans Mono"/>
                <a:cs typeface="Noto Sans Mono"/>
                <a:sym typeface="Noto Sans Mono"/>
              </a:rPr>
              <a:t>any model or method</a:t>
            </a:r>
            <a:r>
              <a:rPr lang="zh-TW" sz="1600" b="1">
                <a:latin typeface="Noto Sans Mono"/>
                <a:ea typeface="Noto Sans Mono"/>
                <a:cs typeface="Noto Sans Mono"/>
                <a:sym typeface="Noto Sans Mono"/>
              </a:rPr>
              <a:t> </a:t>
            </a:r>
            <a:r>
              <a:rPr lang="zh-TW" sz="1600">
                <a:latin typeface="Noto Sans Mono"/>
                <a:ea typeface="Noto Sans Mono"/>
                <a:cs typeface="Noto Sans Mono"/>
                <a:sym typeface="Noto Sans Mono"/>
              </a:rPr>
              <a:t>to predict whether a user will click on a news.</a:t>
            </a:r>
            <a:endParaRPr sz="1600">
              <a:latin typeface="Noto Sans Mono"/>
              <a:ea typeface="Noto Sans Mono"/>
              <a:cs typeface="Noto Sans Mono"/>
              <a:sym typeface="Noto Sans Mono"/>
            </a:endParaRPr>
          </a:p>
          <a:p>
            <a:pPr marL="457200" lvl="0" indent="-314960" algn="l" rtl="0">
              <a:lnSpc>
                <a:spcPct val="150000"/>
              </a:lnSpc>
              <a:spcBef>
                <a:spcPts val="1200"/>
              </a:spcBef>
              <a:spcAft>
                <a:spcPts val="0"/>
              </a:spcAft>
              <a:buSzPct val="100000"/>
              <a:buFont typeface="Noto Sans Mono"/>
              <a:buAutoNum type="arabicPeriod"/>
            </a:pPr>
            <a:r>
              <a:rPr lang="zh-TW" sz="1600">
                <a:latin typeface="Noto Sans Mono"/>
                <a:ea typeface="Noto Sans Mono"/>
                <a:cs typeface="Noto Sans Mono"/>
                <a:sym typeface="Noto Sans Mono"/>
              </a:rPr>
              <a:t>Submit a report and source code to E3</a:t>
            </a:r>
            <a:endParaRPr sz="1600">
              <a:latin typeface="Noto Sans Mono"/>
              <a:ea typeface="Noto Sans Mono"/>
              <a:cs typeface="Noto Sans Mono"/>
              <a:sym typeface="Noto Sans Mono"/>
            </a:endParaRPr>
          </a:p>
          <a:p>
            <a:pPr marL="457200" lvl="0" indent="-314960" algn="l" rtl="0">
              <a:lnSpc>
                <a:spcPct val="150000"/>
              </a:lnSpc>
              <a:spcBef>
                <a:spcPts val="0"/>
              </a:spcBef>
              <a:spcAft>
                <a:spcPts val="0"/>
              </a:spcAft>
              <a:buSzPct val="100000"/>
              <a:buFont typeface="Noto Sans Mono"/>
              <a:buAutoNum type="arabicPeriod"/>
            </a:pPr>
            <a:r>
              <a:rPr lang="zh-TW" sz="1600">
                <a:latin typeface="Noto Sans Mono"/>
                <a:ea typeface="Noto Sans Mono"/>
                <a:cs typeface="Noto Sans Mono"/>
                <a:sym typeface="Noto Sans Mono"/>
              </a:rPr>
              <a:t>Upload your prediction to Kaggle competition</a:t>
            </a:r>
            <a:endParaRPr sz="1600">
              <a:latin typeface="Noto Sans Mono"/>
              <a:ea typeface="Noto Sans Mono"/>
              <a:cs typeface="Noto Sans Mono"/>
              <a:sym typeface="Noto Sans Mono"/>
            </a:endParaRPr>
          </a:p>
        </p:txBody>
      </p:sp>
      <p:pic>
        <p:nvPicPr>
          <p:cNvPr id="94" name="Google Shape;94;p14"/>
          <p:cNvPicPr preferRelativeResize="0"/>
          <p:nvPr/>
        </p:nvPicPr>
        <p:blipFill>
          <a:blip r:embed="rId3">
            <a:alphaModFix/>
          </a:blip>
          <a:stretch>
            <a:fillRect/>
          </a:stretch>
        </p:blipFill>
        <p:spPr>
          <a:xfrm>
            <a:off x="5756050" y="593925"/>
            <a:ext cx="2568150" cy="17027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Dataset</a:t>
            </a:r>
            <a:endParaRPr/>
          </a:p>
        </p:txBody>
      </p:sp>
      <p:sp>
        <p:nvSpPr>
          <p:cNvPr id="100" name="Google Shape;100;p15"/>
          <p:cNvSpPr txBox="1">
            <a:spLocks noGrp="1"/>
          </p:cNvSpPr>
          <p:nvPr>
            <p:ph type="body" idx="1"/>
          </p:nvPr>
        </p:nvSpPr>
        <p:spPr>
          <a:xfrm>
            <a:off x="729450" y="1969350"/>
            <a:ext cx="7688700" cy="28032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zh-TW" sz="1600">
                <a:latin typeface="Noto Sans Mono"/>
                <a:ea typeface="Noto Sans Mono"/>
                <a:cs typeface="Noto Sans Mono"/>
                <a:sym typeface="Noto Sans Mono"/>
              </a:rPr>
              <a:t>You are given 2 datasets (download via Kaggle), </a:t>
            </a:r>
            <a:r>
              <a:rPr lang="zh-TW" sz="1600" b="1">
                <a:latin typeface="Noto Sans Mono"/>
                <a:ea typeface="Noto Sans Mono"/>
                <a:cs typeface="Noto Sans Mono"/>
                <a:sym typeface="Noto Sans Mono"/>
              </a:rPr>
              <a:t>train</a:t>
            </a:r>
            <a:r>
              <a:rPr lang="zh-TW" sz="1600">
                <a:latin typeface="Noto Sans Mono"/>
                <a:ea typeface="Noto Sans Mono"/>
                <a:cs typeface="Noto Sans Mono"/>
                <a:sym typeface="Noto Sans Mono"/>
              </a:rPr>
              <a:t> and </a:t>
            </a:r>
            <a:r>
              <a:rPr lang="zh-TW" sz="1600" b="1">
                <a:latin typeface="Noto Sans Mono"/>
                <a:ea typeface="Noto Sans Mono"/>
                <a:cs typeface="Noto Sans Mono"/>
                <a:sym typeface="Noto Sans Mono"/>
              </a:rPr>
              <a:t>test</a:t>
            </a:r>
            <a:r>
              <a:rPr lang="zh-TW" sz="1600">
                <a:latin typeface="Noto Sans Mono"/>
                <a:ea typeface="Noto Sans Mono"/>
                <a:cs typeface="Noto Sans Mono"/>
                <a:sym typeface="Noto Sans Mono"/>
              </a:rPr>
              <a:t>, each with 3 files:</a:t>
            </a:r>
            <a:endParaRPr sz="1600">
              <a:latin typeface="Noto Sans Mono"/>
              <a:ea typeface="Noto Sans Mono"/>
              <a:cs typeface="Noto Sans Mono"/>
              <a:sym typeface="Noto Sans Mono"/>
            </a:endParaRPr>
          </a:p>
          <a:p>
            <a:pPr marL="457200" lvl="0" indent="-330200" algn="l" rtl="0">
              <a:lnSpc>
                <a:spcPct val="150000"/>
              </a:lnSpc>
              <a:spcBef>
                <a:spcPts val="1200"/>
              </a:spcBef>
              <a:spcAft>
                <a:spcPts val="0"/>
              </a:spcAft>
              <a:buSzPts val="1600"/>
              <a:buFont typeface="Noto Sans Mono"/>
              <a:buChar char="●"/>
            </a:pPr>
            <a:r>
              <a:rPr lang="zh-TW" sz="1600">
                <a:latin typeface="Noto Sans Mono"/>
                <a:ea typeface="Noto Sans Mono"/>
                <a:cs typeface="Noto Sans Mono"/>
                <a:sym typeface="Noto Sans Mono"/>
              </a:rPr>
              <a:t>behaviors.tsv</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entity_embedding.vec</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news.tsv</a:t>
            </a:r>
            <a:endParaRPr sz="1600">
              <a:latin typeface="Noto Sans Mono"/>
              <a:ea typeface="Noto Sans Mono"/>
              <a:cs typeface="Noto Sans Mono"/>
              <a:sym typeface="Noto Sa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Dataset (cont.)</a:t>
            </a:r>
            <a:endParaRPr/>
          </a:p>
        </p:txBody>
      </p:sp>
      <p:sp>
        <p:nvSpPr>
          <p:cNvPr id="106" name="Google Shape;106;p16"/>
          <p:cNvSpPr txBox="1">
            <a:spLocks noGrp="1"/>
          </p:cNvSpPr>
          <p:nvPr>
            <p:ph type="body" idx="1"/>
          </p:nvPr>
        </p:nvSpPr>
        <p:spPr>
          <a:xfrm>
            <a:off x="729450" y="1969350"/>
            <a:ext cx="7688700" cy="3120000"/>
          </a:xfrm>
          <a:prstGeom prst="rect">
            <a:avLst/>
          </a:prstGeom>
        </p:spPr>
        <p:txBody>
          <a:bodyPr spcFirstLastPara="1" wrap="square" lIns="91425" tIns="91425" rIns="91425" bIns="91425" anchor="t" anchorCtr="0">
            <a:normAutofit lnSpcReduction="10000"/>
          </a:bodyPr>
          <a:lstStyle/>
          <a:p>
            <a:pPr marL="457200" lvl="0" indent="-342900" algn="l" rtl="0">
              <a:lnSpc>
                <a:spcPct val="150000"/>
              </a:lnSpc>
              <a:spcBef>
                <a:spcPts val="0"/>
              </a:spcBef>
              <a:spcAft>
                <a:spcPts val="0"/>
              </a:spcAft>
              <a:buSzPts val="1800"/>
              <a:buFont typeface="Noto Sans Mono"/>
              <a:buChar char="●"/>
            </a:pPr>
            <a:r>
              <a:rPr lang="zh-TW" sz="1800" dirty="0">
                <a:latin typeface="Noto Sans Mono"/>
                <a:ea typeface="Noto Sans Mono"/>
                <a:cs typeface="Noto Sans Mono"/>
                <a:sym typeface="Noto Sans Mono"/>
              </a:rPr>
              <a:t>behaviors.tsv</a:t>
            </a:r>
            <a:endParaRPr sz="18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user_id</a:t>
            </a:r>
            <a:r>
              <a:rPr lang="zh-TW" sz="1600" dirty="0">
                <a:latin typeface="Noto Sans Mono"/>
                <a:ea typeface="Noto Sans Mono"/>
                <a:cs typeface="Noto Sans Mono"/>
                <a:sym typeface="Noto Sans Mono"/>
              </a:rPr>
              <a:t>: user id.</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time</a:t>
            </a:r>
            <a:r>
              <a:rPr lang="zh-TW" sz="1600" dirty="0">
                <a:latin typeface="Noto Sans Mono"/>
                <a:ea typeface="Noto Sans Mono"/>
                <a:cs typeface="Noto Sans Mono"/>
                <a:sym typeface="Noto Sans Mono"/>
              </a:rPr>
              <a:t>: the time the user visited the website homepage.</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clicked_news</a:t>
            </a:r>
            <a:r>
              <a:rPr lang="zh-TW" sz="1600" dirty="0">
                <a:latin typeface="Noto Sans Mono"/>
                <a:ea typeface="Noto Sans Mono"/>
                <a:cs typeface="Noto Sans Mono"/>
                <a:sym typeface="Noto Sans Mono"/>
              </a:rPr>
              <a:t>: </a:t>
            </a:r>
            <a:r>
              <a:rPr lang="zh-TW" sz="1600" b="1" dirty="0">
                <a:latin typeface="Noto Sans Mono"/>
                <a:ea typeface="Noto Sans Mono"/>
                <a:cs typeface="Noto Sans Mono"/>
                <a:sym typeface="Noto Sans Mono"/>
              </a:rPr>
              <a:t>space-separated list</a:t>
            </a:r>
            <a:r>
              <a:rPr lang="zh-TW" sz="1600" dirty="0">
                <a:latin typeface="Noto Sans Mono"/>
                <a:ea typeface="Noto Sans Mono"/>
                <a:cs typeface="Noto Sans Mono"/>
                <a:sym typeface="Noto Sans Mono"/>
              </a:rPr>
              <a:t> of user’s click history.</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impressions</a:t>
            </a:r>
            <a:r>
              <a:rPr lang="zh-TW" sz="1600" dirty="0">
                <a:latin typeface="Noto Sans Mono"/>
                <a:ea typeface="Noto Sans Mono"/>
                <a:cs typeface="Noto Sans Mono"/>
                <a:sym typeface="Noto Sans Mono"/>
              </a:rPr>
              <a:t>: </a:t>
            </a:r>
            <a:r>
              <a:rPr lang="zh-TW" sz="1600" b="1" dirty="0">
                <a:latin typeface="Noto Sans Mono"/>
                <a:ea typeface="Noto Sans Mono"/>
                <a:cs typeface="Noto Sans Mono"/>
                <a:sym typeface="Noto Sans Mono"/>
              </a:rPr>
              <a:t>space-separated list (15 items)</a:t>
            </a:r>
            <a:r>
              <a:rPr lang="zh-TW" sz="1600" dirty="0">
                <a:latin typeface="Noto Sans Mono"/>
                <a:ea typeface="Noto Sans Mono"/>
                <a:cs typeface="Noto Sans Mono"/>
                <a:sym typeface="Noto Sans Mono"/>
              </a:rPr>
              <a:t>, whether user clicked on the recommended news or not. (Format: {news_id}-{clicked}, clicked is 0 or 1.)</a:t>
            </a:r>
            <a:endParaRPr sz="1600" dirty="0">
              <a:latin typeface="Noto Sans Mono"/>
              <a:ea typeface="Noto Sans Mono"/>
              <a:cs typeface="Noto Sans Mono"/>
              <a:sym typeface="Noto Sans Mon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zh-TW" dirty="0"/>
              <a:t>Dataset (cont.)</a:t>
            </a:r>
            <a:r>
              <a:rPr lang="zh-TW" altLang="en-US" dirty="0"/>
              <a:t> </a:t>
            </a:r>
            <a:r>
              <a:rPr lang="en-US" altLang="zh-TW" dirty="0"/>
              <a:t>- </a:t>
            </a:r>
            <a:r>
              <a:rPr lang="en-US" altLang="zh-TW" sz="2800" dirty="0" err="1">
                <a:latin typeface="Noto Sans Mono"/>
                <a:ea typeface="Noto Sans Mono"/>
                <a:cs typeface="Noto Sans Mono"/>
                <a:sym typeface="Noto Sans Mono"/>
              </a:rPr>
              <a:t>behaviors.tsv</a:t>
            </a:r>
            <a:r>
              <a:rPr lang="zh-TW" altLang="en-US" sz="2800" dirty="0">
                <a:latin typeface="Noto Sans Mono"/>
                <a:ea typeface="Noto Sans Mono"/>
                <a:cs typeface="Noto Sans Mono"/>
                <a:sym typeface="Noto Sans Mono"/>
              </a:rPr>
              <a:t> </a:t>
            </a:r>
            <a:r>
              <a:rPr lang="en-US" altLang="zh-TW" sz="2800" dirty="0">
                <a:latin typeface="Noto Sans Mono"/>
                <a:ea typeface="Noto Sans Mono"/>
                <a:cs typeface="Noto Sans Mono"/>
                <a:sym typeface="Noto Sans Mono"/>
              </a:rPr>
              <a:t>-train</a:t>
            </a:r>
            <a:br>
              <a:rPr lang="en-US" altLang="zh-TW" sz="2800" dirty="0">
                <a:latin typeface="Noto Sans Mono"/>
                <a:ea typeface="Noto Sans Mono"/>
                <a:cs typeface="Noto Sans Mono"/>
                <a:sym typeface="Noto Sans Mono"/>
              </a:rPr>
            </a:br>
            <a:endParaRPr dirty="0"/>
          </a:p>
          <a:p>
            <a:pPr marL="0" lvl="0" indent="0" algn="l" rtl="0">
              <a:spcBef>
                <a:spcPts val="0"/>
              </a:spcBef>
              <a:spcAft>
                <a:spcPts val="0"/>
              </a:spcAft>
              <a:buNone/>
            </a:pPr>
            <a:endParaRPr dirty="0"/>
          </a:p>
        </p:txBody>
      </p:sp>
      <p:pic>
        <p:nvPicPr>
          <p:cNvPr id="112" name="Google Shape;112;p17"/>
          <p:cNvPicPr preferRelativeResize="0"/>
          <p:nvPr/>
        </p:nvPicPr>
        <p:blipFill>
          <a:blip r:embed="rId3">
            <a:alphaModFix/>
          </a:blip>
          <a:stretch>
            <a:fillRect/>
          </a:stretch>
        </p:blipFill>
        <p:spPr>
          <a:xfrm>
            <a:off x="152400" y="2006250"/>
            <a:ext cx="8839202" cy="29443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zh-TW" dirty="0"/>
              <a:t>Dataset (cont.)</a:t>
            </a:r>
            <a:r>
              <a:rPr lang="zh-TW" altLang="en-US" dirty="0"/>
              <a:t> </a:t>
            </a:r>
            <a:r>
              <a:rPr lang="en-US" altLang="zh-TW" dirty="0"/>
              <a:t>- </a:t>
            </a:r>
            <a:r>
              <a:rPr lang="en-US" altLang="zh-TW" sz="2800" dirty="0" err="1">
                <a:latin typeface="Noto Sans Mono"/>
                <a:ea typeface="Noto Sans Mono"/>
                <a:cs typeface="Noto Sans Mono"/>
                <a:sym typeface="Noto Sans Mono"/>
              </a:rPr>
              <a:t>behaviors.tsv</a:t>
            </a:r>
            <a:r>
              <a:rPr lang="zh-TW" altLang="en-US" sz="2800" dirty="0">
                <a:latin typeface="Noto Sans Mono"/>
                <a:ea typeface="Noto Sans Mono"/>
                <a:cs typeface="Noto Sans Mono"/>
                <a:sym typeface="Noto Sans Mono"/>
              </a:rPr>
              <a:t> </a:t>
            </a:r>
            <a:r>
              <a:rPr lang="en-US" altLang="zh-TW" sz="2800" dirty="0">
                <a:latin typeface="Noto Sans Mono"/>
                <a:ea typeface="Noto Sans Mono"/>
                <a:cs typeface="Noto Sans Mono"/>
                <a:sym typeface="Noto Sans Mono"/>
              </a:rPr>
              <a:t>-test</a:t>
            </a:r>
            <a:br>
              <a:rPr lang="en-US" altLang="zh-TW" sz="2800" dirty="0">
                <a:latin typeface="Noto Sans Mono"/>
                <a:ea typeface="Noto Sans Mono"/>
                <a:cs typeface="Noto Sans Mono"/>
                <a:sym typeface="Noto Sans Mono"/>
              </a:rPr>
            </a:br>
            <a:endParaRPr dirty="0"/>
          </a:p>
          <a:p>
            <a:pPr marL="0" lvl="0" indent="0" algn="l" rtl="0">
              <a:spcBef>
                <a:spcPts val="0"/>
              </a:spcBef>
              <a:spcAft>
                <a:spcPts val="0"/>
              </a:spcAft>
              <a:buNone/>
            </a:pPr>
            <a:endParaRPr dirty="0"/>
          </a:p>
        </p:txBody>
      </p:sp>
      <p:pic>
        <p:nvPicPr>
          <p:cNvPr id="3" name="圖片 2">
            <a:extLst>
              <a:ext uri="{FF2B5EF4-FFF2-40B4-BE49-F238E27FC236}">
                <a16:creationId xmlns:a16="http://schemas.microsoft.com/office/drawing/2014/main" id="{5CA9A791-7C76-4088-8296-5D7C9689AA34}"/>
              </a:ext>
            </a:extLst>
          </p:cNvPr>
          <p:cNvPicPr>
            <a:picLocks noChangeAspect="1"/>
          </p:cNvPicPr>
          <p:nvPr/>
        </p:nvPicPr>
        <p:blipFill rotWithShape="1">
          <a:blip r:embed="rId3"/>
          <a:srcRect t="14573"/>
          <a:stretch/>
        </p:blipFill>
        <p:spPr>
          <a:xfrm>
            <a:off x="2241973" y="1781386"/>
            <a:ext cx="4411555" cy="3292308"/>
          </a:xfrm>
          <a:prstGeom prst="rect">
            <a:avLst/>
          </a:prstGeom>
        </p:spPr>
      </p:pic>
    </p:spTree>
    <p:extLst>
      <p:ext uri="{BB962C8B-B14F-4D97-AF65-F5344CB8AC3E}">
        <p14:creationId xmlns:p14="http://schemas.microsoft.com/office/powerpoint/2010/main" val="2128722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dirty="0"/>
              <a:t>Dataset (cont.)</a:t>
            </a:r>
            <a:endParaRPr dirty="0"/>
          </a:p>
          <a:p>
            <a:pPr marL="0" lvl="0" indent="0" algn="l" rtl="0">
              <a:spcBef>
                <a:spcPts val="0"/>
              </a:spcBef>
              <a:spcAft>
                <a:spcPts val="0"/>
              </a:spcAft>
              <a:buNone/>
            </a:pPr>
            <a:endParaRPr dirty="0"/>
          </a:p>
        </p:txBody>
      </p:sp>
      <p:sp>
        <p:nvSpPr>
          <p:cNvPr id="118" name="Google Shape;118;p18"/>
          <p:cNvSpPr txBox="1">
            <a:spLocks noGrp="1"/>
          </p:cNvSpPr>
          <p:nvPr>
            <p:ph type="body" idx="1"/>
          </p:nvPr>
        </p:nvSpPr>
        <p:spPr>
          <a:xfrm>
            <a:off x="729450" y="1969350"/>
            <a:ext cx="7688700" cy="31200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SzPts val="1800"/>
              <a:buFont typeface="Noto Sans Mono"/>
              <a:buChar char="●"/>
            </a:pPr>
            <a:r>
              <a:rPr lang="zh-TW" sz="1800" dirty="0">
                <a:latin typeface="Noto Sans Mono"/>
                <a:ea typeface="Noto Sans Mono"/>
                <a:cs typeface="Noto Sans Mono"/>
                <a:sym typeface="Noto Sans Mono"/>
              </a:rPr>
              <a:t>news.tsv</a:t>
            </a:r>
            <a:endParaRPr sz="18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news_id</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category</a:t>
            </a:r>
            <a:r>
              <a:rPr lang="zh-TW" sz="1600" dirty="0">
                <a:latin typeface="Noto Sans Mono"/>
                <a:ea typeface="Noto Sans Mono"/>
                <a:cs typeface="Noto Sans Mono"/>
                <a:sym typeface="Noto Sans Mono"/>
              </a:rPr>
              <a:t>: news category.</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subcategory</a:t>
            </a:r>
            <a:r>
              <a:rPr lang="zh-TW" sz="1600" dirty="0">
                <a:latin typeface="Noto Sans Mono"/>
                <a:ea typeface="Noto Sans Mono"/>
                <a:cs typeface="Noto Sans Mono"/>
                <a:sym typeface="Noto Sans Mono"/>
              </a:rPr>
              <a:t>: more fine-grained news category.</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title</a:t>
            </a:r>
            <a:r>
              <a:rPr lang="zh-TW" sz="1600" dirty="0">
                <a:latin typeface="Noto Sans Mono"/>
                <a:ea typeface="Noto Sans Mono"/>
                <a:cs typeface="Noto Sans Mono"/>
                <a:sym typeface="Noto Sans Mono"/>
              </a:rPr>
              <a:t>: title of the news.</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abstract</a:t>
            </a:r>
            <a:r>
              <a:rPr lang="zh-TW" sz="1600" dirty="0">
                <a:latin typeface="Noto Sans Mono"/>
                <a:ea typeface="Noto Sans Mono"/>
                <a:cs typeface="Noto Sans Mono"/>
                <a:sym typeface="Noto Sans Mono"/>
              </a:rPr>
              <a:t>: (possibly empty) abstract of the news.</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highlight>
                  <a:srgbClr val="EFEFEF"/>
                </a:highlight>
                <a:latin typeface="Noto Sans Mono"/>
                <a:ea typeface="Noto Sans Mono"/>
                <a:cs typeface="Noto Sans Mono"/>
                <a:sym typeface="Noto Sans Mono"/>
              </a:rPr>
              <a:t>URL</a:t>
            </a:r>
            <a:endParaRPr sz="1600" dirty="0">
              <a:latin typeface="Noto Sans Mono"/>
              <a:ea typeface="Noto Sans Mono"/>
              <a:cs typeface="Noto Sans Mono"/>
              <a:sym typeface="Noto Sans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Dataset (cont.)</a:t>
            </a:r>
            <a:endParaRPr/>
          </a:p>
          <a:p>
            <a:pPr marL="0" lvl="0" indent="0" algn="l" rtl="0">
              <a:spcBef>
                <a:spcPts val="0"/>
              </a:spcBef>
              <a:spcAft>
                <a:spcPts val="0"/>
              </a:spcAft>
              <a:buNone/>
            </a:pPr>
            <a:endParaRPr/>
          </a:p>
        </p:txBody>
      </p:sp>
      <p:sp>
        <p:nvSpPr>
          <p:cNvPr id="124" name="Google Shape;124;p19"/>
          <p:cNvSpPr txBox="1">
            <a:spLocks noGrp="1"/>
          </p:cNvSpPr>
          <p:nvPr>
            <p:ph type="body" idx="1"/>
          </p:nvPr>
        </p:nvSpPr>
        <p:spPr>
          <a:xfrm>
            <a:off x="729450" y="1969350"/>
            <a:ext cx="7688700" cy="31200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SzPts val="1800"/>
              <a:buFont typeface="Noto Sans Mono"/>
              <a:buChar char="●"/>
            </a:pPr>
            <a:r>
              <a:rPr lang="zh-TW" sz="1800">
                <a:latin typeface="Noto Sans Mono"/>
                <a:ea typeface="Noto Sans Mono"/>
                <a:cs typeface="Noto Sans Mono"/>
                <a:sym typeface="Noto Sans Mono"/>
              </a:rPr>
              <a:t>news.tsv (cont.)</a:t>
            </a:r>
            <a:endParaRPr sz="180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a:highlight>
                  <a:srgbClr val="EFEFEF"/>
                </a:highlight>
                <a:latin typeface="Noto Sans Mono"/>
                <a:ea typeface="Noto Sans Mono"/>
                <a:cs typeface="Noto Sans Mono"/>
                <a:sym typeface="Noto Sans Mono"/>
              </a:rPr>
              <a:t>title_entities</a:t>
            </a:r>
            <a:r>
              <a:rPr lang="zh-TW" sz="1600">
                <a:latin typeface="Noto Sans Mono"/>
                <a:ea typeface="Noto Sans Mono"/>
                <a:cs typeface="Noto Sans Mono"/>
                <a:sym typeface="Noto Sans Mono"/>
              </a:rPr>
              <a:t>: special entities in news title that is linked with </a:t>
            </a:r>
            <a:r>
              <a:rPr lang="zh-TW" sz="1600" u="sng">
                <a:solidFill>
                  <a:schemeClr val="hlink"/>
                </a:solidFill>
                <a:latin typeface="Noto Sans Mono"/>
                <a:ea typeface="Noto Sans Mono"/>
                <a:cs typeface="Noto Sans Mono"/>
                <a:sym typeface="Noto Sans Mono"/>
                <a:hlinkClick r:id="rId3"/>
              </a:rPr>
              <a:t>Wikidata</a:t>
            </a:r>
            <a:r>
              <a:rPr lang="zh-TW" sz="1600">
                <a:latin typeface="Noto Sans Mono"/>
                <a:ea typeface="Noto Sans Mono"/>
                <a:cs typeface="Noto Sans Mono"/>
                <a:sym typeface="Noto Sans Mono"/>
              </a:rPr>
              <a:t>. (Format: </a:t>
            </a:r>
            <a:r>
              <a:rPr lang="zh-TW" sz="1600" b="1">
                <a:latin typeface="Noto Sans Mono"/>
                <a:ea typeface="Noto Sans Mono"/>
                <a:cs typeface="Noto Sans Mono"/>
                <a:sym typeface="Noto Sans Mono"/>
              </a:rPr>
              <a:t>json list</a:t>
            </a:r>
            <a:r>
              <a:rPr lang="zh-TW" sz="1600">
                <a:latin typeface="Noto Sans Mono"/>
                <a:ea typeface="Noto Sans Mono"/>
                <a:cs typeface="Noto Sans Mono"/>
                <a:sym typeface="Noto Sans Mono"/>
              </a:rPr>
              <a:t>, each item is a linked entity)</a:t>
            </a:r>
            <a:endParaRPr sz="160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a:highlight>
                  <a:srgbClr val="EFEFEF"/>
                </a:highlight>
                <a:latin typeface="Noto Sans Mono"/>
                <a:ea typeface="Noto Sans Mono"/>
                <a:cs typeface="Noto Sans Mono"/>
                <a:sym typeface="Noto Sans Mono"/>
              </a:rPr>
              <a:t>abstract_entities</a:t>
            </a:r>
            <a:r>
              <a:rPr lang="zh-TW" sz="1600">
                <a:latin typeface="Noto Sans Mono"/>
                <a:ea typeface="Noto Sans Mono"/>
                <a:cs typeface="Noto Sans Mono"/>
                <a:sym typeface="Noto Sans Mono"/>
              </a:rPr>
              <a:t>: special entities in news abstract.</a:t>
            </a:r>
            <a:endParaRPr sz="1600">
              <a:latin typeface="Noto Sans Mono"/>
              <a:ea typeface="Noto Sans Mono"/>
              <a:cs typeface="Noto Sans Mono"/>
              <a:sym typeface="Noto Sa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581AC9-FAB9-4D23-9098-89D6CA10D952}"/>
              </a:ext>
            </a:extLst>
          </p:cNvPr>
          <p:cNvSpPr>
            <a:spLocks noGrp="1"/>
          </p:cNvSpPr>
          <p:nvPr>
            <p:ph type="title"/>
          </p:nvPr>
        </p:nvSpPr>
        <p:spPr/>
        <p:txBody>
          <a:bodyPr>
            <a:normAutofit fontScale="90000"/>
          </a:bodyPr>
          <a:lstStyle/>
          <a:p>
            <a:r>
              <a:rPr lang="zh-TW" altLang="zh-TW" dirty="0"/>
              <a:t>Dataset (cont.)</a:t>
            </a:r>
            <a:r>
              <a:rPr lang="en-US" altLang="zh-TW" dirty="0"/>
              <a:t> - </a:t>
            </a:r>
            <a:r>
              <a:rPr lang="en-US" altLang="zh-TW" sz="2800" dirty="0" err="1">
                <a:latin typeface="Noto Sans Mono"/>
                <a:ea typeface="Noto Sans Mono"/>
                <a:cs typeface="Noto Sans Mono"/>
                <a:sym typeface="Noto Sans Mono"/>
              </a:rPr>
              <a:t>news.tsv</a:t>
            </a:r>
            <a:r>
              <a:rPr lang="en-US" altLang="zh-TW" sz="2800" dirty="0">
                <a:latin typeface="Noto Sans Mono"/>
                <a:ea typeface="Noto Sans Mono"/>
                <a:cs typeface="Noto Sans Mono"/>
                <a:sym typeface="Noto Sans Mono"/>
              </a:rPr>
              <a:t> -train</a:t>
            </a:r>
            <a:br>
              <a:rPr lang="en-US" altLang="zh-TW" sz="2800" dirty="0">
                <a:latin typeface="Noto Sans Mono"/>
                <a:ea typeface="Noto Sans Mono"/>
                <a:cs typeface="Noto Sans Mono"/>
                <a:sym typeface="Noto Sans Mono"/>
              </a:rPr>
            </a:br>
            <a:endParaRPr lang="zh-TW" altLang="en-US" dirty="0"/>
          </a:p>
        </p:txBody>
      </p:sp>
      <p:pic>
        <p:nvPicPr>
          <p:cNvPr id="4" name="圖片 3">
            <a:extLst>
              <a:ext uri="{FF2B5EF4-FFF2-40B4-BE49-F238E27FC236}">
                <a16:creationId xmlns:a16="http://schemas.microsoft.com/office/drawing/2014/main" id="{C52A1AD0-B1EC-4AA5-91B0-319A788EBA52}"/>
              </a:ext>
            </a:extLst>
          </p:cNvPr>
          <p:cNvPicPr>
            <a:picLocks noChangeAspect="1"/>
          </p:cNvPicPr>
          <p:nvPr/>
        </p:nvPicPr>
        <p:blipFill>
          <a:blip r:embed="rId2"/>
          <a:stretch>
            <a:fillRect/>
          </a:stretch>
        </p:blipFill>
        <p:spPr>
          <a:xfrm>
            <a:off x="239137" y="2051842"/>
            <a:ext cx="8175413" cy="2670195"/>
          </a:xfrm>
          <a:prstGeom prst="rect">
            <a:avLst/>
          </a:prstGeom>
        </p:spPr>
      </p:pic>
    </p:spTree>
    <p:extLst>
      <p:ext uri="{BB962C8B-B14F-4D97-AF65-F5344CB8AC3E}">
        <p14:creationId xmlns:p14="http://schemas.microsoft.com/office/powerpoint/2010/main" val="4054086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581AC9-FAB9-4D23-9098-89D6CA10D952}"/>
              </a:ext>
            </a:extLst>
          </p:cNvPr>
          <p:cNvSpPr>
            <a:spLocks noGrp="1"/>
          </p:cNvSpPr>
          <p:nvPr>
            <p:ph type="title"/>
          </p:nvPr>
        </p:nvSpPr>
        <p:spPr/>
        <p:txBody>
          <a:bodyPr>
            <a:normAutofit fontScale="90000"/>
          </a:bodyPr>
          <a:lstStyle/>
          <a:p>
            <a:r>
              <a:rPr lang="zh-TW" altLang="zh-TW" dirty="0"/>
              <a:t>Dataset (cont.)</a:t>
            </a:r>
            <a:r>
              <a:rPr lang="en-US" altLang="zh-TW" dirty="0"/>
              <a:t> - </a:t>
            </a:r>
            <a:r>
              <a:rPr lang="en-US" altLang="zh-TW" sz="2800" dirty="0" err="1">
                <a:latin typeface="Noto Sans Mono"/>
                <a:ea typeface="Noto Sans Mono"/>
                <a:cs typeface="Noto Sans Mono"/>
                <a:sym typeface="Noto Sans Mono"/>
              </a:rPr>
              <a:t>news.tsv</a:t>
            </a:r>
            <a:r>
              <a:rPr lang="en-US" altLang="zh-TW" sz="2800" dirty="0">
                <a:latin typeface="Noto Sans Mono"/>
                <a:ea typeface="Noto Sans Mono"/>
                <a:cs typeface="Noto Sans Mono"/>
                <a:sym typeface="Noto Sans Mono"/>
              </a:rPr>
              <a:t> -test</a:t>
            </a:r>
            <a:br>
              <a:rPr lang="en-US" altLang="zh-TW" sz="2800" dirty="0">
                <a:latin typeface="Noto Sans Mono"/>
                <a:ea typeface="Noto Sans Mono"/>
                <a:cs typeface="Noto Sans Mono"/>
                <a:sym typeface="Noto Sans Mono"/>
              </a:rPr>
            </a:br>
            <a:endParaRPr lang="zh-TW" altLang="en-US" dirty="0"/>
          </a:p>
        </p:txBody>
      </p:sp>
      <p:pic>
        <p:nvPicPr>
          <p:cNvPr id="5" name="圖片 4">
            <a:extLst>
              <a:ext uri="{FF2B5EF4-FFF2-40B4-BE49-F238E27FC236}">
                <a16:creationId xmlns:a16="http://schemas.microsoft.com/office/drawing/2014/main" id="{D6BBFF0C-3936-4BEF-A245-28406D85C104}"/>
              </a:ext>
            </a:extLst>
          </p:cNvPr>
          <p:cNvPicPr>
            <a:picLocks noChangeAspect="1"/>
          </p:cNvPicPr>
          <p:nvPr/>
        </p:nvPicPr>
        <p:blipFill>
          <a:blip r:embed="rId2"/>
          <a:stretch>
            <a:fillRect/>
          </a:stretch>
        </p:blipFill>
        <p:spPr>
          <a:xfrm>
            <a:off x="221076" y="1950719"/>
            <a:ext cx="8701848" cy="2799927"/>
          </a:xfrm>
          <a:prstGeom prst="rect">
            <a:avLst/>
          </a:prstGeom>
        </p:spPr>
      </p:pic>
    </p:spTree>
    <p:extLst>
      <p:ext uri="{BB962C8B-B14F-4D97-AF65-F5344CB8AC3E}">
        <p14:creationId xmlns:p14="http://schemas.microsoft.com/office/powerpoint/2010/main" val="2486716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Dataset (cont.)</a:t>
            </a:r>
            <a:endParaRPr/>
          </a:p>
          <a:p>
            <a:pPr marL="0" lvl="0" indent="0" algn="l" rtl="0">
              <a:spcBef>
                <a:spcPts val="0"/>
              </a:spcBef>
              <a:spcAft>
                <a:spcPts val="0"/>
              </a:spcAft>
              <a:buNone/>
            </a:pPr>
            <a:endParaRPr/>
          </a:p>
        </p:txBody>
      </p:sp>
      <p:sp>
        <p:nvSpPr>
          <p:cNvPr id="130" name="Google Shape;130;p20"/>
          <p:cNvSpPr txBox="1">
            <a:spLocks noGrp="1"/>
          </p:cNvSpPr>
          <p:nvPr>
            <p:ph type="body" idx="1"/>
          </p:nvPr>
        </p:nvSpPr>
        <p:spPr>
          <a:xfrm>
            <a:off x="729450" y="1969350"/>
            <a:ext cx="7688700" cy="31200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SzPts val="1800"/>
              <a:buFont typeface="Noto Sans Mono"/>
              <a:buChar char="●"/>
            </a:pPr>
            <a:r>
              <a:rPr lang="zh-TW" sz="1800" dirty="0">
                <a:latin typeface="Noto Sans Mono"/>
                <a:ea typeface="Noto Sans Mono"/>
                <a:cs typeface="Noto Sans Mono"/>
                <a:sym typeface="Noto Sans Mono"/>
              </a:rPr>
              <a:t>entity_embedding.vec</a:t>
            </a:r>
            <a:endParaRPr sz="18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dirty="0">
                <a:latin typeface="Noto Sans Mono"/>
                <a:ea typeface="Noto Sans Mono"/>
                <a:cs typeface="Noto Sans Mono"/>
                <a:sym typeface="Noto Sans Mono"/>
              </a:rPr>
              <a:t>For convenience, we provide </a:t>
            </a:r>
            <a:r>
              <a:rPr lang="zh-TW" sz="1600" b="1" dirty="0">
                <a:latin typeface="Noto Sans Mono"/>
                <a:ea typeface="Noto Sans Mono"/>
                <a:cs typeface="Noto Sans Mono"/>
                <a:sym typeface="Noto Sans Mono"/>
              </a:rPr>
              <a:t>100-D</a:t>
            </a:r>
            <a:r>
              <a:rPr lang="zh-TW" sz="1600" dirty="0">
                <a:latin typeface="Noto Sans Mono"/>
                <a:ea typeface="Noto Sans Mono"/>
                <a:cs typeface="Noto Sans Mono"/>
                <a:sym typeface="Noto Sans Mono"/>
              </a:rPr>
              <a:t> trained embeddings of special entities. (tab separated)</a:t>
            </a:r>
            <a:endParaRPr sz="1600" dirty="0">
              <a:latin typeface="Noto Sans Mono"/>
              <a:ea typeface="Noto Sans Mono"/>
              <a:cs typeface="Noto Sans Mono"/>
              <a:sym typeface="Noto Sans Mono"/>
            </a:endParaRPr>
          </a:p>
          <a:p>
            <a:pPr marL="914400" lvl="1" indent="-330200" algn="l" rtl="0">
              <a:lnSpc>
                <a:spcPct val="150000"/>
              </a:lnSpc>
              <a:spcBef>
                <a:spcPts val="0"/>
              </a:spcBef>
              <a:spcAft>
                <a:spcPts val="0"/>
              </a:spcAft>
              <a:buSzPts val="1600"/>
              <a:buFont typeface="Noto Sans Mono"/>
              <a:buChar char="○"/>
            </a:pPr>
            <a:r>
              <a:rPr lang="zh-TW" sz="1600" b="1" dirty="0">
                <a:latin typeface="Noto Sans Mono"/>
                <a:ea typeface="Noto Sans Mono"/>
                <a:cs typeface="Noto Sans Mono"/>
                <a:sym typeface="Noto Sans Mono"/>
              </a:rPr>
              <a:t>You can also use your preferred embeddings.</a:t>
            </a:r>
            <a:endParaRPr sz="1600" b="1" dirty="0">
              <a:latin typeface="Noto Sans Mono"/>
              <a:ea typeface="Noto Sans Mono"/>
              <a:cs typeface="Noto Sans Mono"/>
              <a:sym typeface="Noto Sans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B12CBC-24D1-4034-B2AB-22CDD7202FD3}"/>
              </a:ext>
            </a:extLst>
          </p:cNvPr>
          <p:cNvSpPr>
            <a:spLocks noGrp="1"/>
          </p:cNvSpPr>
          <p:nvPr>
            <p:ph type="title"/>
          </p:nvPr>
        </p:nvSpPr>
        <p:spPr>
          <a:xfrm>
            <a:off x="729449" y="1318650"/>
            <a:ext cx="7879457" cy="535200"/>
          </a:xfrm>
        </p:spPr>
        <p:txBody>
          <a:bodyPr>
            <a:normAutofit fontScale="90000"/>
          </a:bodyPr>
          <a:lstStyle/>
          <a:p>
            <a:r>
              <a:rPr lang="zh-TW" altLang="zh-TW" dirty="0"/>
              <a:t>Dataset (cont.)</a:t>
            </a:r>
            <a:r>
              <a:rPr lang="en-US" altLang="zh-TW" dirty="0"/>
              <a:t> - </a:t>
            </a:r>
            <a:r>
              <a:rPr lang="en-US" altLang="zh-TW" sz="2800" dirty="0" err="1">
                <a:latin typeface="Noto Sans Mono"/>
                <a:ea typeface="Noto Sans Mono"/>
                <a:cs typeface="Noto Sans Mono"/>
                <a:sym typeface="Noto Sans Mono"/>
              </a:rPr>
              <a:t>entity_embedding.vec</a:t>
            </a:r>
            <a:r>
              <a:rPr lang="en-US" altLang="zh-TW" sz="2800" dirty="0">
                <a:latin typeface="Noto Sans Mono"/>
                <a:ea typeface="Noto Sans Mono"/>
                <a:cs typeface="Noto Sans Mono"/>
                <a:sym typeface="Noto Sans Mono"/>
              </a:rPr>
              <a:t> - train</a:t>
            </a:r>
            <a:br>
              <a:rPr lang="en-US" altLang="zh-TW" sz="2800" dirty="0">
                <a:latin typeface="Noto Sans Mono"/>
                <a:ea typeface="Noto Sans Mono"/>
                <a:cs typeface="Noto Sans Mono"/>
                <a:sym typeface="Noto Sans Mono"/>
              </a:rPr>
            </a:br>
            <a:endParaRPr lang="zh-TW" altLang="en-US" dirty="0"/>
          </a:p>
        </p:txBody>
      </p:sp>
      <p:pic>
        <p:nvPicPr>
          <p:cNvPr id="4" name="圖片 3">
            <a:extLst>
              <a:ext uri="{FF2B5EF4-FFF2-40B4-BE49-F238E27FC236}">
                <a16:creationId xmlns:a16="http://schemas.microsoft.com/office/drawing/2014/main" id="{C2127465-6DCD-4D97-9C41-38FB2266D4D5}"/>
              </a:ext>
            </a:extLst>
          </p:cNvPr>
          <p:cNvPicPr>
            <a:picLocks noChangeAspect="1"/>
          </p:cNvPicPr>
          <p:nvPr/>
        </p:nvPicPr>
        <p:blipFill>
          <a:blip r:embed="rId2"/>
          <a:stretch>
            <a:fillRect/>
          </a:stretch>
        </p:blipFill>
        <p:spPr>
          <a:xfrm>
            <a:off x="536027" y="2042469"/>
            <a:ext cx="7496503" cy="2629717"/>
          </a:xfrm>
          <a:prstGeom prst="rect">
            <a:avLst/>
          </a:prstGeom>
        </p:spPr>
      </p:pic>
    </p:spTree>
    <p:extLst>
      <p:ext uri="{BB962C8B-B14F-4D97-AF65-F5344CB8AC3E}">
        <p14:creationId xmlns:p14="http://schemas.microsoft.com/office/powerpoint/2010/main" val="4136741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B12CBC-24D1-4034-B2AB-22CDD7202FD3}"/>
              </a:ext>
            </a:extLst>
          </p:cNvPr>
          <p:cNvSpPr>
            <a:spLocks noGrp="1"/>
          </p:cNvSpPr>
          <p:nvPr>
            <p:ph type="title"/>
          </p:nvPr>
        </p:nvSpPr>
        <p:spPr>
          <a:xfrm>
            <a:off x="729449" y="1318650"/>
            <a:ext cx="7879457" cy="535200"/>
          </a:xfrm>
        </p:spPr>
        <p:txBody>
          <a:bodyPr>
            <a:normAutofit fontScale="90000"/>
          </a:bodyPr>
          <a:lstStyle/>
          <a:p>
            <a:r>
              <a:rPr lang="zh-TW" altLang="zh-TW" dirty="0"/>
              <a:t>Dataset (cont.)</a:t>
            </a:r>
            <a:r>
              <a:rPr lang="en-US" altLang="zh-TW" dirty="0"/>
              <a:t> - </a:t>
            </a:r>
            <a:r>
              <a:rPr lang="en-US" altLang="zh-TW" sz="2800" dirty="0" err="1">
                <a:latin typeface="Noto Sans Mono"/>
                <a:ea typeface="Noto Sans Mono"/>
                <a:cs typeface="Noto Sans Mono"/>
                <a:sym typeface="Noto Sans Mono"/>
              </a:rPr>
              <a:t>entity_embedding.vec</a:t>
            </a:r>
            <a:r>
              <a:rPr lang="en-US" altLang="zh-TW" sz="2800" dirty="0">
                <a:latin typeface="Noto Sans Mono"/>
                <a:ea typeface="Noto Sans Mono"/>
                <a:cs typeface="Noto Sans Mono"/>
                <a:sym typeface="Noto Sans Mono"/>
              </a:rPr>
              <a:t> - test</a:t>
            </a:r>
            <a:endParaRPr lang="zh-TW" altLang="en-US" dirty="0"/>
          </a:p>
        </p:txBody>
      </p:sp>
      <p:pic>
        <p:nvPicPr>
          <p:cNvPr id="5" name="圖片 4">
            <a:extLst>
              <a:ext uri="{FF2B5EF4-FFF2-40B4-BE49-F238E27FC236}">
                <a16:creationId xmlns:a16="http://schemas.microsoft.com/office/drawing/2014/main" id="{04C20C8C-3938-46D8-AB5B-ACA909A71253}"/>
              </a:ext>
            </a:extLst>
          </p:cNvPr>
          <p:cNvPicPr>
            <a:picLocks noChangeAspect="1"/>
          </p:cNvPicPr>
          <p:nvPr/>
        </p:nvPicPr>
        <p:blipFill>
          <a:blip r:embed="rId2"/>
          <a:stretch>
            <a:fillRect/>
          </a:stretch>
        </p:blipFill>
        <p:spPr>
          <a:xfrm>
            <a:off x="440265" y="2001258"/>
            <a:ext cx="8168641" cy="2767065"/>
          </a:xfrm>
          <a:prstGeom prst="rect">
            <a:avLst/>
          </a:prstGeom>
        </p:spPr>
      </p:pic>
    </p:spTree>
    <p:extLst>
      <p:ext uri="{BB962C8B-B14F-4D97-AF65-F5344CB8AC3E}">
        <p14:creationId xmlns:p14="http://schemas.microsoft.com/office/powerpoint/2010/main" val="189229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Kaggle</a:t>
            </a:r>
            <a:endParaRPr/>
          </a:p>
        </p:txBody>
      </p:sp>
      <p:sp>
        <p:nvSpPr>
          <p:cNvPr id="136" name="Google Shape;136;p21"/>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SzPts val="1600"/>
              <a:buFont typeface="Noto Sans Mono"/>
              <a:buChar char="●"/>
            </a:pPr>
            <a:r>
              <a:rPr lang="zh-TW" sz="1600" u="sng">
                <a:solidFill>
                  <a:schemeClr val="hlink"/>
                </a:solidFill>
                <a:latin typeface="Noto Sans Mono"/>
                <a:ea typeface="Noto Sans Mono"/>
                <a:cs typeface="Noto Sans Mono"/>
                <a:sym typeface="Noto Sans Mono"/>
                <a:hlinkClick r:id="rId3"/>
              </a:rPr>
              <a:t>Competition Link</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Create a team with your </a:t>
            </a:r>
            <a:r>
              <a:rPr lang="zh-TW" sz="1600" b="1">
                <a:latin typeface="Noto Sans Mono"/>
                <a:ea typeface="Noto Sans Mono"/>
                <a:cs typeface="Noto Sans Mono"/>
                <a:sym typeface="Noto Sans Mono"/>
              </a:rPr>
              <a:t>student ID</a:t>
            </a:r>
            <a:r>
              <a:rPr lang="zh-TW" sz="1600">
                <a:latin typeface="Noto Sans Mono"/>
                <a:ea typeface="Noto Sans Mono"/>
                <a:cs typeface="Noto Sans Mono"/>
                <a:sym typeface="Noto Sans Mono"/>
              </a:rPr>
              <a:t>, we use this information for grading.</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If you failed to do so under any circumstances, there will be </a:t>
            </a:r>
            <a:r>
              <a:rPr lang="zh-TW" sz="1600" b="1">
                <a:solidFill>
                  <a:srgbClr val="980000"/>
                </a:solidFill>
                <a:latin typeface="Noto Sans Mono"/>
                <a:ea typeface="Noto Sans Mono"/>
                <a:cs typeface="Noto Sans Mono"/>
                <a:sym typeface="Noto Sans Mono"/>
              </a:rPr>
              <a:t>a penalty of 5 points</a:t>
            </a:r>
            <a:r>
              <a:rPr lang="zh-TW" sz="1600">
                <a:latin typeface="Noto Sans Mono"/>
                <a:ea typeface="Noto Sans Mono"/>
                <a:cs typeface="Noto Sans Mono"/>
                <a:sym typeface="Noto Sans Mono"/>
              </a:rPr>
              <a:t> to your score, so be sure to use the correct team name.</a:t>
            </a:r>
            <a:endParaRPr sz="1600">
              <a:latin typeface="Noto Sans Mono"/>
              <a:ea typeface="Noto Sans Mono"/>
              <a:cs typeface="Noto Sans Mono"/>
              <a:sym typeface="Noto Sa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Kaggle (cont.)</a:t>
            </a:r>
            <a:endParaRPr/>
          </a:p>
        </p:txBody>
      </p:sp>
      <p:sp>
        <p:nvSpPr>
          <p:cNvPr id="142" name="Google Shape;142;p22"/>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Public leaderboard is calculated with 50% of the test set, private leaderboard is calculated with the other 50%, the final standings may be different.</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Therefore, </a:t>
            </a:r>
            <a:r>
              <a:rPr lang="zh-TW" sz="1600" b="1">
                <a:highlight>
                  <a:srgbClr val="FFF2CC"/>
                </a:highlight>
                <a:latin typeface="Noto Sans Mono"/>
                <a:ea typeface="Noto Sans Mono"/>
                <a:cs typeface="Noto Sans Mono"/>
                <a:sym typeface="Noto Sans Mono"/>
              </a:rPr>
              <a:t>please </a:t>
            </a:r>
            <a:r>
              <a:rPr lang="zh-TW" sz="1600" b="1">
                <a:solidFill>
                  <a:srgbClr val="980000"/>
                </a:solidFill>
                <a:highlight>
                  <a:srgbClr val="FFF2CC"/>
                </a:highlight>
                <a:latin typeface="Noto Sans Mono"/>
                <a:ea typeface="Noto Sans Mono"/>
                <a:cs typeface="Noto Sans Mono"/>
                <a:sym typeface="Noto Sans Mono"/>
              </a:rPr>
              <a:t>DO NOT</a:t>
            </a:r>
            <a:r>
              <a:rPr lang="zh-TW" sz="1600" b="1">
                <a:highlight>
                  <a:srgbClr val="FFF2CC"/>
                </a:highlight>
                <a:latin typeface="Noto Sans Mono"/>
                <a:ea typeface="Noto Sans Mono"/>
                <a:cs typeface="Noto Sans Mono"/>
                <a:sym typeface="Noto Sans Mono"/>
              </a:rPr>
              <a:t> overtune your model to fit the public leaderboard, or you will suffer from overfitting</a:t>
            </a:r>
            <a:r>
              <a:rPr lang="zh-TW" sz="1600">
                <a:latin typeface="Noto Sans Mono"/>
                <a:ea typeface="Noto Sans Mono"/>
                <a:cs typeface="Noto Sans Mono"/>
                <a:sym typeface="Noto Sans Mono"/>
              </a:rPr>
              <a:t>.</a:t>
            </a:r>
            <a:endParaRPr sz="1600">
              <a:latin typeface="Noto Sans Mono"/>
              <a:ea typeface="Noto Sans Mono"/>
              <a:cs typeface="Noto Sans Mono"/>
              <a:sym typeface="Noto Sa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Kaggle (cont.)</a:t>
            </a:r>
            <a:endParaRPr/>
          </a:p>
        </p:txBody>
      </p:sp>
      <p:sp>
        <p:nvSpPr>
          <p:cNvPr id="148" name="Google Shape;148;p23"/>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fontScale="92500"/>
          </a:bodyPr>
          <a:lstStyle/>
          <a:p>
            <a:pPr marL="457200" lvl="0" indent="-322580" algn="l" rtl="0">
              <a:lnSpc>
                <a:spcPct val="150000"/>
              </a:lnSpc>
              <a:spcBef>
                <a:spcPts val="0"/>
              </a:spcBef>
              <a:spcAft>
                <a:spcPts val="0"/>
              </a:spcAft>
              <a:buSzPct val="100000"/>
              <a:buChar char="●"/>
            </a:pPr>
            <a:r>
              <a:rPr lang="zh-TW" sz="1600">
                <a:latin typeface="Noto Sans Mono"/>
                <a:ea typeface="Noto Sans Mono"/>
                <a:cs typeface="Noto Sans Mono"/>
                <a:sym typeface="Noto Sans Mono"/>
              </a:rPr>
              <a:t>The scoring metric is </a:t>
            </a:r>
            <a:r>
              <a:rPr lang="zh-TW" sz="1600" b="1">
                <a:latin typeface="Noto Sans Mono"/>
                <a:ea typeface="Noto Sans Mono"/>
                <a:cs typeface="Noto Sans Mono"/>
                <a:sym typeface="Noto Sans Mono"/>
              </a:rPr>
              <a:t>Area Under the Curve of ROC (AUC ROC)</a:t>
            </a:r>
            <a:r>
              <a:rPr lang="zh-TW" sz="1600">
                <a:latin typeface="Noto Sans Mono"/>
                <a:ea typeface="Noto Sans Mono"/>
                <a:cs typeface="Noto Sans Mono"/>
                <a:sym typeface="Noto Sans Mono"/>
              </a:rPr>
              <a:t>. If you don’t know what it is, </a:t>
            </a:r>
            <a:r>
              <a:rPr lang="zh-TW" sz="1600" u="sng">
                <a:solidFill>
                  <a:schemeClr val="hlink"/>
                </a:solidFill>
                <a:latin typeface="Noto Sans Mono"/>
                <a:ea typeface="Noto Sans Mono"/>
                <a:cs typeface="Noto Sans Mono"/>
                <a:sym typeface="Noto Sans Mono"/>
                <a:hlinkClick r:id="rId3"/>
              </a:rPr>
              <a:t>here</a:t>
            </a:r>
            <a:r>
              <a:rPr lang="zh-TW" sz="1600">
                <a:latin typeface="Noto Sans Mono"/>
                <a:ea typeface="Noto Sans Mono"/>
                <a:cs typeface="Noto Sans Mono"/>
                <a:sym typeface="Noto Sans Mono"/>
              </a:rPr>
              <a:t> is a quick video for you.</a:t>
            </a:r>
            <a:endParaRPr sz="1600">
              <a:latin typeface="Noto Sans Mono"/>
              <a:ea typeface="Noto Sans Mono"/>
              <a:cs typeface="Noto Sans Mono"/>
              <a:sym typeface="Noto Sans Mono"/>
            </a:endParaRPr>
          </a:p>
          <a:p>
            <a:pPr marL="457200" lvl="0" indent="-322580" algn="l" rtl="0">
              <a:lnSpc>
                <a:spcPct val="150000"/>
              </a:lnSpc>
              <a:spcBef>
                <a:spcPts val="0"/>
              </a:spcBef>
              <a:spcAft>
                <a:spcPts val="0"/>
              </a:spcAft>
              <a:buSzPct val="100000"/>
              <a:buFont typeface="Noto Sans Mono"/>
              <a:buChar char="●"/>
            </a:pPr>
            <a:r>
              <a:rPr lang="zh-TW" sz="1600">
                <a:latin typeface="Noto Sans Mono"/>
                <a:ea typeface="Noto Sans Mono"/>
                <a:cs typeface="Noto Sans Mono"/>
                <a:sym typeface="Noto Sans Mono"/>
              </a:rPr>
              <a:t>We have set a simple baseline and a strong baseline, beat them to get higher score.</a:t>
            </a:r>
            <a:endParaRPr sz="1600">
              <a:latin typeface="Noto Sans Mono"/>
              <a:ea typeface="Noto Sans Mono"/>
              <a:cs typeface="Noto Sans Mono"/>
              <a:sym typeface="Noto Sans Mono"/>
            </a:endParaRPr>
          </a:p>
          <a:p>
            <a:pPr marL="457200" lvl="0" indent="-322580" algn="l" rtl="0">
              <a:lnSpc>
                <a:spcPct val="150000"/>
              </a:lnSpc>
              <a:spcBef>
                <a:spcPts val="0"/>
              </a:spcBef>
              <a:spcAft>
                <a:spcPts val="0"/>
              </a:spcAft>
              <a:buSzPct val="100000"/>
              <a:buFont typeface="Noto Sans Mono"/>
              <a:buChar char="●"/>
            </a:pPr>
            <a:r>
              <a:rPr lang="zh-TW" sz="1600">
                <a:latin typeface="Noto Sans Mono"/>
                <a:ea typeface="Noto Sans Mono"/>
                <a:cs typeface="Noto Sans Mono"/>
                <a:sym typeface="Noto Sans Mono"/>
              </a:rPr>
              <a:t>You can submit at most 10 times each day and choose 2 of the submissions to be scored for the private leaderboard, or will otherwise default to the best public scoring submissions.</a:t>
            </a:r>
            <a:endParaRPr sz="1600">
              <a:latin typeface="Noto Sans Mono"/>
              <a:ea typeface="Noto Sans Mono"/>
              <a:cs typeface="Noto Sans Mono"/>
              <a:sym typeface="Noto Sans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Kaggle Submission Format</a:t>
            </a:r>
            <a:endParaRPr/>
          </a:p>
        </p:txBody>
      </p:sp>
      <p:sp>
        <p:nvSpPr>
          <p:cNvPr id="154" name="Google Shape;154;p24"/>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lnSpcReduction="10000"/>
          </a:bodyPr>
          <a:lstStyle/>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Report user with their </a:t>
            </a:r>
            <a:r>
              <a:rPr lang="zh-TW" sz="1600" b="1">
                <a:latin typeface="Noto Sans Mono"/>
                <a:ea typeface="Noto Sans Mono"/>
                <a:cs typeface="Noto Sans Mono"/>
                <a:sym typeface="Noto Sans Mono"/>
              </a:rPr>
              <a:t>index (column “id” in test_behaviors.tsv, not “user_id”)</a:t>
            </a:r>
            <a:r>
              <a:rPr lang="zh-TW" sz="1600">
                <a:latin typeface="Noto Sans Mono"/>
                <a:ea typeface="Noto Sans Mono"/>
                <a:cs typeface="Noto Sans Mono"/>
                <a:sym typeface="Noto Sans Mono"/>
              </a:rPr>
              <a:t>, and the corresponding prediction to each news.</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There should be </a:t>
            </a:r>
            <a:r>
              <a:rPr lang="zh-TW" sz="1600" b="1">
                <a:solidFill>
                  <a:srgbClr val="980000"/>
                </a:solidFill>
                <a:latin typeface="Noto Sans Mono"/>
                <a:ea typeface="Noto Sans Mono"/>
                <a:cs typeface="Noto Sans Mono"/>
                <a:sym typeface="Noto Sans Mono"/>
              </a:rPr>
              <a:t>46333 x 16</a:t>
            </a:r>
            <a:r>
              <a:rPr lang="zh-TW" sz="1600">
                <a:latin typeface="Noto Sans Mono"/>
                <a:ea typeface="Noto Sans Mono"/>
                <a:cs typeface="Noto Sans Mono"/>
                <a:sym typeface="Noto Sans Mono"/>
              </a:rPr>
              <a:t> entries in your csv file, </a:t>
            </a:r>
            <a:r>
              <a:rPr lang="zh-TW" sz="1600" b="1">
                <a:latin typeface="Noto Sans Mono"/>
                <a:ea typeface="Noto Sans Mono"/>
                <a:cs typeface="Noto Sans Mono"/>
                <a:sym typeface="Noto Sans Mono"/>
              </a:rPr>
              <a:t>with columns “id” and “p1 - p15”</a:t>
            </a:r>
            <a:r>
              <a:rPr lang="zh-TW" sz="1600">
                <a:latin typeface="Noto Sans Mono"/>
                <a:ea typeface="Noto Sans Mono"/>
                <a:cs typeface="Noto Sans Mono"/>
                <a:sym typeface="Noto Sans Mono"/>
              </a:rPr>
              <a:t>.</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The order of the ids does not matter. Refer to </a:t>
            </a:r>
            <a:r>
              <a:rPr lang="zh-TW" sz="1600" u="sng">
                <a:latin typeface="Noto Sans Mono"/>
                <a:ea typeface="Noto Sans Mono"/>
                <a:cs typeface="Noto Sans Mono"/>
                <a:sym typeface="Noto Sans Mono"/>
              </a:rPr>
              <a:t>sample_submission.csv</a:t>
            </a:r>
            <a:r>
              <a:rPr lang="zh-TW" sz="1600">
                <a:latin typeface="Noto Sans Mono"/>
                <a:ea typeface="Noto Sans Mono"/>
                <a:cs typeface="Noto Sans Mono"/>
                <a:sym typeface="Noto Sans Mono"/>
              </a:rPr>
              <a:t> for the correct format.</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Kaggle Submission Format</a:t>
            </a:r>
            <a:endParaRPr/>
          </a:p>
        </p:txBody>
      </p:sp>
      <p:sp>
        <p:nvSpPr>
          <p:cNvPr id="160" name="Google Shape;160;p25"/>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The “p1 - p15” columns should contain the probability predicted by your model, of the user clicking the 1st news, to the 15th news.</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Although we ask you to provide the “probability”, the value does not have to be in [0, 1], because the AUC metric still works without that rule.</a:t>
            </a:r>
            <a:endParaRPr sz="1600">
              <a:latin typeface="Noto Sans Mono"/>
              <a:ea typeface="Noto Sans Mono"/>
              <a:cs typeface="Noto Sans Mono"/>
              <a:sym typeface="Noto Sans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Baseline Approach</a:t>
            </a:r>
            <a:endParaRPr/>
          </a:p>
          <a:p>
            <a:pPr marL="0" lvl="0" indent="0" algn="l" rtl="0">
              <a:spcBef>
                <a:spcPts val="0"/>
              </a:spcBef>
              <a:spcAft>
                <a:spcPts val="0"/>
              </a:spcAft>
              <a:buNone/>
            </a:pPr>
            <a:endParaRPr/>
          </a:p>
        </p:txBody>
      </p:sp>
      <p:sp>
        <p:nvSpPr>
          <p:cNvPr id="166" name="Google Shape;166;p26"/>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SzPts val="1600"/>
              <a:buFont typeface="Noto Sans Mono"/>
              <a:buChar char="●"/>
            </a:pPr>
            <a:r>
              <a:rPr lang="zh-TW" sz="1600" b="1">
                <a:solidFill>
                  <a:srgbClr val="980000"/>
                </a:solidFill>
                <a:latin typeface="Noto Sans Mono"/>
                <a:ea typeface="Noto Sans Mono"/>
                <a:cs typeface="Noto Sans Mono"/>
                <a:sym typeface="Noto Sans Mono"/>
              </a:rPr>
              <a:t>Disclaimer:</a:t>
            </a:r>
            <a:r>
              <a:rPr lang="zh-TW" sz="1600">
                <a:latin typeface="Noto Sans Mono"/>
                <a:ea typeface="Noto Sans Mono"/>
                <a:cs typeface="Noto Sans Mono"/>
                <a:sym typeface="Noto Sans Mono"/>
              </a:rPr>
              <a:t> The following appoarch are just for your reference. You are not required to follow any of them. </a:t>
            </a:r>
            <a:r>
              <a:rPr lang="zh-TW" sz="1600" u="sng">
                <a:latin typeface="Noto Sans Mono"/>
                <a:ea typeface="Noto Sans Mono"/>
                <a:cs typeface="Noto Sans Mono"/>
                <a:sym typeface="Noto Sans Mono"/>
              </a:rPr>
              <a:t>We encourage you to invent new ways to solve this problem.</a:t>
            </a:r>
            <a:endParaRPr sz="1600" u="sng">
              <a:latin typeface="Noto Sans Mono"/>
              <a:ea typeface="Noto Sans Mono"/>
              <a:cs typeface="Noto Sans Mono"/>
              <a:sym typeface="Noto Sa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Baseline Approach</a:t>
            </a:r>
            <a:endParaRPr/>
          </a:p>
        </p:txBody>
      </p:sp>
      <p:sp>
        <p:nvSpPr>
          <p:cNvPr id="172" name="Google Shape;172;p27"/>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The amount of data is huge, and we need to predict 15 news for each user. The news itself is a short (possibly long) paragraph, we won’t be able to fit them all in a single model. Therefore, try to find a way to </a:t>
            </a:r>
            <a:r>
              <a:rPr lang="zh-TW" sz="1600" b="1">
                <a:highlight>
                  <a:srgbClr val="FFE599"/>
                </a:highlight>
                <a:latin typeface="Noto Sans Mono"/>
                <a:ea typeface="Noto Sans Mono"/>
                <a:cs typeface="Noto Sans Mono"/>
                <a:sym typeface="Noto Sans Mono"/>
              </a:rPr>
              <a:t>encode each news as a “news embedding”</a:t>
            </a:r>
            <a:r>
              <a:rPr lang="zh-TW" sz="1600">
                <a:latin typeface="Noto Sans Mono"/>
                <a:ea typeface="Noto Sans Mono"/>
                <a:cs typeface="Noto Sans Mono"/>
                <a:sym typeface="Noto Sans Mono"/>
              </a:rPr>
              <a:t>. This will also help us comparing the similarity between each news.</a:t>
            </a:r>
            <a:endParaRPr sz="1600">
              <a:latin typeface="Noto Sans Mono"/>
              <a:ea typeface="Noto Sans Mono"/>
              <a:cs typeface="Noto Sans Mono"/>
              <a:sym typeface="Noto Sans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Baseline Approach</a:t>
            </a:r>
            <a:endParaRPr/>
          </a:p>
          <a:p>
            <a:pPr marL="0" lvl="0" indent="0" algn="l" rtl="0">
              <a:spcBef>
                <a:spcPts val="0"/>
              </a:spcBef>
              <a:spcAft>
                <a:spcPts val="0"/>
              </a:spcAft>
              <a:buNone/>
            </a:pPr>
            <a:endParaRPr/>
          </a:p>
        </p:txBody>
      </p:sp>
      <p:sp>
        <p:nvSpPr>
          <p:cNvPr id="178" name="Google Shape;178;p28"/>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23850" algn="l" rtl="0">
              <a:lnSpc>
                <a:spcPct val="150000"/>
              </a:lnSpc>
              <a:spcBef>
                <a:spcPts val="0"/>
              </a:spcBef>
              <a:spcAft>
                <a:spcPts val="0"/>
              </a:spcAft>
              <a:buSzPts val="1500"/>
              <a:buFont typeface="Noto Sans Mono"/>
              <a:buChar char="●"/>
            </a:pPr>
            <a:r>
              <a:rPr lang="zh-TW" sz="1500">
                <a:latin typeface="Noto Sans Mono"/>
                <a:ea typeface="Noto Sans Mono"/>
                <a:cs typeface="Noto Sans Mono"/>
                <a:sym typeface="Noto Sans Mono"/>
              </a:rPr>
              <a:t>To build the news embedding, you can use BERT as the encoder, or train a neural network using your own preferred word embedding (e.g. GLoVe, flair).</a:t>
            </a:r>
            <a:endParaRPr sz="1500">
              <a:latin typeface="Noto Sans Mono"/>
              <a:ea typeface="Noto Sans Mono"/>
              <a:cs typeface="Noto Sans Mono"/>
              <a:sym typeface="Noto Sans Mono"/>
            </a:endParaRPr>
          </a:p>
        </p:txBody>
      </p:sp>
      <p:sp>
        <p:nvSpPr>
          <p:cNvPr id="179" name="Google Shape;179;p28"/>
          <p:cNvSpPr/>
          <p:nvPr/>
        </p:nvSpPr>
        <p:spPr>
          <a:xfrm>
            <a:off x="3707950" y="3864925"/>
            <a:ext cx="480300" cy="420300"/>
          </a:xfrm>
          <a:prstGeom prst="rightArrow">
            <a:avLst>
              <a:gd name="adj1" fmla="val 50000"/>
              <a:gd name="adj2" fmla="val 50000"/>
            </a:avLst>
          </a:prstGeom>
          <a:solidFill>
            <a:srgbClr val="63D297"/>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8"/>
          <p:cNvSpPr/>
          <p:nvPr/>
        </p:nvSpPr>
        <p:spPr>
          <a:xfrm>
            <a:off x="6303425" y="3839750"/>
            <a:ext cx="480300" cy="420300"/>
          </a:xfrm>
          <a:prstGeom prst="rightArrow">
            <a:avLst>
              <a:gd name="adj1" fmla="val 50000"/>
              <a:gd name="adj2" fmla="val 50000"/>
            </a:avLst>
          </a:prstGeom>
          <a:solidFill>
            <a:srgbClr val="63D297"/>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8"/>
          <p:cNvSpPr/>
          <p:nvPr/>
        </p:nvSpPr>
        <p:spPr>
          <a:xfrm>
            <a:off x="7053425" y="3633050"/>
            <a:ext cx="1685700" cy="833700"/>
          </a:xfrm>
          <a:prstGeom prst="roundRect">
            <a:avLst>
              <a:gd name="adj" fmla="val 16667"/>
            </a:avLst>
          </a:prstGeom>
          <a:solidFill>
            <a:srgbClr val="F6B26B"/>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b="1">
                <a:latin typeface="Proxima Nova"/>
                <a:ea typeface="Proxima Nova"/>
                <a:cs typeface="Proxima Nova"/>
                <a:sym typeface="Proxima Nova"/>
              </a:rPr>
              <a:t>news embedding</a:t>
            </a:r>
            <a:endParaRPr b="1">
              <a:latin typeface="Proxima Nova"/>
              <a:ea typeface="Proxima Nova"/>
              <a:cs typeface="Proxima Nova"/>
              <a:sym typeface="Proxima Nova"/>
            </a:endParaRPr>
          </a:p>
          <a:p>
            <a:pPr marL="0" lvl="0" indent="0" algn="ctr" rtl="0">
              <a:spcBef>
                <a:spcPts val="0"/>
              </a:spcBef>
              <a:spcAft>
                <a:spcPts val="0"/>
              </a:spcAft>
              <a:buNone/>
            </a:pPr>
            <a:br>
              <a:rPr lang="zh-TW">
                <a:latin typeface="Proxima Nova"/>
                <a:ea typeface="Proxima Nova"/>
                <a:cs typeface="Proxima Nova"/>
                <a:sym typeface="Proxima Nova"/>
              </a:rPr>
            </a:br>
            <a:r>
              <a:rPr lang="zh-TW">
                <a:latin typeface="Cambria Math"/>
                <a:ea typeface="Cambria Math"/>
                <a:cs typeface="Cambria Math"/>
                <a:sym typeface="Cambria Math"/>
              </a:rPr>
              <a:t>N_i</a:t>
            </a:r>
            <a:endParaRPr>
              <a:latin typeface="Cambria Math"/>
              <a:ea typeface="Cambria Math"/>
              <a:cs typeface="Cambria Math"/>
              <a:sym typeface="Cambria Math"/>
            </a:endParaRPr>
          </a:p>
        </p:txBody>
      </p:sp>
      <p:grpSp>
        <p:nvGrpSpPr>
          <p:cNvPr id="182" name="Google Shape;182;p28"/>
          <p:cNvGrpSpPr/>
          <p:nvPr/>
        </p:nvGrpSpPr>
        <p:grpSpPr>
          <a:xfrm>
            <a:off x="4386363" y="3305550"/>
            <a:ext cx="1648503" cy="1575925"/>
            <a:chOff x="4052275" y="3149425"/>
            <a:chExt cx="1648503" cy="1575925"/>
          </a:xfrm>
        </p:grpSpPr>
        <p:pic>
          <p:nvPicPr>
            <p:cNvPr id="183" name="Google Shape;183;p28"/>
            <p:cNvPicPr preferRelativeResize="0"/>
            <p:nvPr/>
          </p:nvPicPr>
          <p:blipFill rotWithShape="1">
            <a:blip r:embed="rId3">
              <a:alphaModFix/>
            </a:blip>
            <a:srcRect l="10496" r="13278"/>
            <a:stretch/>
          </p:blipFill>
          <p:spPr>
            <a:xfrm>
              <a:off x="4173153" y="3598100"/>
              <a:ext cx="1527626" cy="1127250"/>
            </a:xfrm>
            <a:prstGeom prst="rect">
              <a:avLst/>
            </a:prstGeom>
            <a:noFill/>
            <a:ln>
              <a:noFill/>
            </a:ln>
          </p:spPr>
        </p:pic>
        <p:sp>
          <p:nvSpPr>
            <p:cNvPr id="184" name="Google Shape;184;p28"/>
            <p:cNvSpPr txBox="1"/>
            <p:nvPr/>
          </p:nvSpPr>
          <p:spPr>
            <a:xfrm>
              <a:off x="4052275" y="3149425"/>
              <a:ext cx="1648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TW" b="1">
                  <a:latin typeface="Proxima Nova"/>
                  <a:ea typeface="Proxima Nova"/>
                  <a:cs typeface="Proxima Nova"/>
                  <a:sym typeface="Proxima Nova"/>
                </a:rPr>
                <a:t>neural network</a:t>
              </a:r>
              <a:endParaRPr b="1">
                <a:latin typeface="Proxima Nova"/>
                <a:ea typeface="Proxima Nova"/>
                <a:cs typeface="Proxima Nova"/>
                <a:sym typeface="Proxima Nova"/>
              </a:endParaRPr>
            </a:p>
          </p:txBody>
        </p:sp>
      </p:grpSp>
      <p:pic>
        <p:nvPicPr>
          <p:cNvPr id="185" name="Google Shape;185;p28"/>
          <p:cNvPicPr preferRelativeResize="0"/>
          <p:nvPr/>
        </p:nvPicPr>
        <p:blipFill>
          <a:blip r:embed="rId4">
            <a:alphaModFix/>
          </a:blip>
          <a:stretch>
            <a:fillRect/>
          </a:stretch>
        </p:blipFill>
        <p:spPr>
          <a:xfrm>
            <a:off x="592600" y="3864937"/>
            <a:ext cx="706625" cy="898375"/>
          </a:xfrm>
          <a:prstGeom prst="rect">
            <a:avLst/>
          </a:prstGeom>
          <a:noFill/>
          <a:ln>
            <a:noFill/>
          </a:ln>
        </p:spPr>
      </p:pic>
      <p:sp>
        <p:nvSpPr>
          <p:cNvPr id="186" name="Google Shape;186;p28"/>
          <p:cNvSpPr txBox="1"/>
          <p:nvPr/>
        </p:nvSpPr>
        <p:spPr>
          <a:xfrm>
            <a:off x="370925" y="3301825"/>
            <a:ext cx="114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TW" b="1">
                <a:latin typeface="Proxima Nova"/>
                <a:ea typeface="Proxima Nova"/>
                <a:cs typeface="Proxima Nova"/>
                <a:sym typeface="Proxima Nova"/>
              </a:rPr>
              <a:t>news_i</a:t>
            </a:r>
            <a:endParaRPr b="1">
              <a:latin typeface="Proxima Nova"/>
              <a:ea typeface="Proxima Nova"/>
              <a:cs typeface="Proxima Nova"/>
              <a:sym typeface="Proxima Nova"/>
            </a:endParaRPr>
          </a:p>
        </p:txBody>
      </p:sp>
      <p:sp>
        <p:nvSpPr>
          <p:cNvPr id="187" name="Google Shape;187;p28"/>
          <p:cNvSpPr/>
          <p:nvPr/>
        </p:nvSpPr>
        <p:spPr>
          <a:xfrm>
            <a:off x="1524975" y="3864925"/>
            <a:ext cx="480300" cy="420300"/>
          </a:xfrm>
          <a:prstGeom prst="rightArrow">
            <a:avLst>
              <a:gd name="adj1" fmla="val 50000"/>
              <a:gd name="adj2" fmla="val 50000"/>
            </a:avLst>
          </a:prstGeom>
          <a:solidFill>
            <a:srgbClr val="63D297"/>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8"/>
          <p:cNvSpPr/>
          <p:nvPr/>
        </p:nvSpPr>
        <p:spPr>
          <a:xfrm>
            <a:off x="2161775" y="3785713"/>
            <a:ext cx="1257900" cy="615600"/>
          </a:xfrm>
          <a:prstGeom prst="roundRect">
            <a:avLst>
              <a:gd name="adj" fmla="val 16667"/>
            </a:avLst>
          </a:prstGeom>
          <a:solidFill>
            <a:srgbClr val="B4A7D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b="1">
                <a:latin typeface="Proxima Nova"/>
                <a:ea typeface="Proxima Nova"/>
                <a:cs typeface="Proxima Nova"/>
                <a:sym typeface="Proxima Nova"/>
              </a:rPr>
              <a:t>word embedding</a:t>
            </a:r>
            <a:endParaRPr>
              <a:latin typeface="Cambria Math"/>
              <a:ea typeface="Cambria Math"/>
              <a:cs typeface="Cambria Math"/>
              <a:sym typeface="Cambria Math"/>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Baseline Approach</a:t>
            </a:r>
            <a:endParaRPr/>
          </a:p>
          <a:p>
            <a:pPr marL="0" lvl="0" indent="0" algn="l" rtl="0">
              <a:spcBef>
                <a:spcPts val="0"/>
              </a:spcBef>
              <a:spcAft>
                <a:spcPts val="0"/>
              </a:spcAft>
              <a:buNone/>
            </a:pPr>
            <a:endParaRPr/>
          </a:p>
        </p:txBody>
      </p:sp>
      <p:sp>
        <p:nvSpPr>
          <p:cNvPr id="194" name="Google Shape;194;p29"/>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For each user, we need to find news that are to their liking. To determine whether a user will like a news or not, we shall build </a:t>
            </a:r>
            <a:r>
              <a:rPr lang="zh-TW" sz="1600" b="1">
                <a:highlight>
                  <a:srgbClr val="FFE599"/>
                </a:highlight>
                <a:latin typeface="Noto Sans Mono"/>
                <a:ea typeface="Noto Sans Mono"/>
                <a:cs typeface="Noto Sans Mono"/>
                <a:sym typeface="Noto Sans Mono"/>
              </a:rPr>
              <a:t>“user embedding”</a:t>
            </a:r>
            <a:r>
              <a:rPr lang="zh-TW" sz="1600">
                <a:latin typeface="Noto Sans Mono"/>
                <a:ea typeface="Noto Sans Mono"/>
                <a:cs typeface="Noto Sans Mono"/>
                <a:sym typeface="Noto Sans Mono"/>
              </a:rPr>
              <a:t>, and then compare this embedding with the “news embedding” we just got.</a:t>
            </a:r>
            <a:endParaRPr sz="1600">
              <a:latin typeface="Noto Sans Mono"/>
              <a:ea typeface="Noto Sans Mono"/>
              <a:cs typeface="Noto Sans Mono"/>
              <a:sym typeface="Noto Sans Mono"/>
            </a:endParaRPr>
          </a:p>
          <a:p>
            <a:pPr marL="457200" lvl="0" indent="0" algn="l" rtl="0">
              <a:lnSpc>
                <a:spcPct val="150000"/>
              </a:lnSpc>
              <a:spcBef>
                <a:spcPts val="1200"/>
              </a:spcBef>
              <a:spcAft>
                <a:spcPts val="1200"/>
              </a:spcAft>
              <a:buNone/>
            </a:pPr>
            <a:endParaRPr sz="1600">
              <a:latin typeface="Noto Sans Mono"/>
              <a:ea typeface="Noto Sans Mono"/>
              <a:cs typeface="Noto Sans Mono"/>
              <a:sym typeface="Noto Sans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Baseline Approach</a:t>
            </a:r>
            <a:endParaRPr/>
          </a:p>
          <a:p>
            <a:pPr marL="0" lvl="0" indent="0" algn="l" rtl="0">
              <a:spcBef>
                <a:spcPts val="0"/>
              </a:spcBef>
              <a:spcAft>
                <a:spcPts val="0"/>
              </a:spcAft>
              <a:buNone/>
            </a:pPr>
            <a:endParaRPr/>
          </a:p>
        </p:txBody>
      </p:sp>
      <p:sp>
        <p:nvSpPr>
          <p:cNvPr id="200" name="Google Shape;200;p30"/>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23850" algn="l" rtl="0">
              <a:lnSpc>
                <a:spcPct val="150000"/>
              </a:lnSpc>
              <a:spcBef>
                <a:spcPts val="0"/>
              </a:spcBef>
              <a:spcAft>
                <a:spcPts val="0"/>
              </a:spcAft>
              <a:buSzPts val="1500"/>
              <a:buFont typeface="Noto Sans Mono"/>
              <a:buChar char="●"/>
            </a:pPr>
            <a:r>
              <a:rPr lang="zh-TW" sz="1500">
                <a:latin typeface="Noto Sans Mono"/>
                <a:ea typeface="Noto Sans Mono"/>
                <a:cs typeface="Noto Sans Mono"/>
                <a:sym typeface="Noto Sans Mono"/>
              </a:rPr>
              <a:t>One easy way to build a user embedding is to consider their click history, and use a model to train the embedding.</a:t>
            </a:r>
            <a:endParaRPr sz="1500">
              <a:latin typeface="Noto Sans Mono"/>
              <a:ea typeface="Noto Sans Mono"/>
              <a:cs typeface="Noto Sans Mono"/>
              <a:sym typeface="Noto Sans Mono"/>
            </a:endParaRPr>
          </a:p>
        </p:txBody>
      </p:sp>
      <p:sp>
        <p:nvSpPr>
          <p:cNvPr id="201" name="Google Shape;201;p30"/>
          <p:cNvSpPr/>
          <p:nvPr/>
        </p:nvSpPr>
        <p:spPr>
          <a:xfrm>
            <a:off x="1047200" y="3069650"/>
            <a:ext cx="1392300" cy="1655700"/>
          </a:xfrm>
          <a:prstGeom prst="roundRect">
            <a:avLst>
              <a:gd name="adj" fmla="val 16667"/>
            </a:avLst>
          </a:prstGeom>
          <a:solidFill>
            <a:srgbClr val="F6B26B"/>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b="1">
                <a:latin typeface="Proxima Nova"/>
                <a:ea typeface="Proxima Nova"/>
                <a:cs typeface="Proxima Nova"/>
                <a:sym typeface="Proxima Nova"/>
              </a:rPr>
              <a:t>click_history</a:t>
            </a:r>
            <a:endParaRPr b="1">
              <a:latin typeface="Proxima Nova"/>
              <a:ea typeface="Proxima Nova"/>
              <a:cs typeface="Proxima Nova"/>
              <a:sym typeface="Proxima Nova"/>
            </a:endParaRPr>
          </a:p>
          <a:p>
            <a:pPr marL="0" lvl="0" indent="0" algn="ctr" rtl="0">
              <a:spcBef>
                <a:spcPts val="0"/>
              </a:spcBef>
              <a:spcAft>
                <a:spcPts val="0"/>
              </a:spcAft>
              <a:buNone/>
            </a:pPr>
            <a:br>
              <a:rPr lang="zh-TW">
                <a:latin typeface="Proxima Nova"/>
                <a:ea typeface="Proxima Nova"/>
                <a:cs typeface="Proxima Nova"/>
                <a:sym typeface="Proxima Nova"/>
              </a:rPr>
            </a:br>
            <a:r>
              <a:rPr lang="zh-TW">
                <a:latin typeface="Cambria Math"/>
                <a:ea typeface="Cambria Math"/>
                <a:cs typeface="Cambria Math"/>
                <a:sym typeface="Cambria Math"/>
              </a:rPr>
              <a:t>N_1</a:t>
            </a:r>
            <a:br>
              <a:rPr lang="zh-TW">
                <a:latin typeface="Cambria Math"/>
                <a:ea typeface="Cambria Math"/>
                <a:cs typeface="Cambria Math"/>
                <a:sym typeface="Cambria Math"/>
              </a:rPr>
            </a:br>
            <a:r>
              <a:rPr lang="zh-TW">
                <a:latin typeface="Cambria Math"/>
                <a:ea typeface="Cambria Math"/>
                <a:cs typeface="Cambria Math"/>
                <a:sym typeface="Cambria Math"/>
              </a:rPr>
              <a:t>N_2</a:t>
            </a:r>
            <a:endParaRPr>
              <a:latin typeface="Cambria Math"/>
              <a:ea typeface="Cambria Math"/>
              <a:cs typeface="Cambria Math"/>
              <a:sym typeface="Cambria Math"/>
            </a:endParaRPr>
          </a:p>
          <a:p>
            <a:pPr marL="0" lvl="0" indent="0" algn="ctr" rtl="0">
              <a:spcBef>
                <a:spcPts val="0"/>
              </a:spcBef>
              <a:spcAft>
                <a:spcPts val="0"/>
              </a:spcAft>
              <a:buNone/>
            </a:pPr>
            <a:r>
              <a:rPr lang="zh-TW">
                <a:latin typeface="Cambria Math"/>
                <a:ea typeface="Cambria Math"/>
                <a:cs typeface="Cambria Math"/>
                <a:sym typeface="Cambria Math"/>
              </a:rPr>
              <a:t>…</a:t>
            </a:r>
            <a:br>
              <a:rPr lang="zh-TW">
                <a:latin typeface="Cambria Math"/>
                <a:ea typeface="Cambria Math"/>
                <a:cs typeface="Cambria Math"/>
                <a:sym typeface="Cambria Math"/>
              </a:rPr>
            </a:br>
            <a:r>
              <a:rPr lang="zh-TW">
                <a:latin typeface="Cambria Math"/>
                <a:ea typeface="Cambria Math"/>
                <a:cs typeface="Cambria Math"/>
                <a:sym typeface="Cambria Math"/>
              </a:rPr>
              <a:t>N_k</a:t>
            </a:r>
            <a:endParaRPr>
              <a:latin typeface="Cambria Math"/>
              <a:ea typeface="Cambria Math"/>
              <a:cs typeface="Cambria Math"/>
              <a:sym typeface="Cambria Math"/>
            </a:endParaRPr>
          </a:p>
        </p:txBody>
      </p:sp>
      <p:sp>
        <p:nvSpPr>
          <p:cNvPr id="202" name="Google Shape;202;p30"/>
          <p:cNvSpPr/>
          <p:nvPr/>
        </p:nvSpPr>
        <p:spPr>
          <a:xfrm>
            <a:off x="2875675" y="3687350"/>
            <a:ext cx="480300" cy="420300"/>
          </a:xfrm>
          <a:prstGeom prst="rightArrow">
            <a:avLst>
              <a:gd name="adj1" fmla="val 50000"/>
              <a:gd name="adj2" fmla="val 50000"/>
            </a:avLst>
          </a:prstGeom>
          <a:solidFill>
            <a:srgbClr val="63D297"/>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3" name="Google Shape;203;p30"/>
          <p:cNvPicPr preferRelativeResize="0"/>
          <p:nvPr/>
        </p:nvPicPr>
        <p:blipFill rotWithShape="1">
          <a:blip r:embed="rId3">
            <a:alphaModFix/>
          </a:blip>
          <a:srcRect l="10496" r="13278"/>
          <a:stretch/>
        </p:blipFill>
        <p:spPr>
          <a:xfrm>
            <a:off x="3792153" y="3598100"/>
            <a:ext cx="1527626" cy="1127250"/>
          </a:xfrm>
          <a:prstGeom prst="rect">
            <a:avLst/>
          </a:prstGeom>
          <a:noFill/>
          <a:ln>
            <a:noFill/>
          </a:ln>
        </p:spPr>
      </p:pic>
      <p:sp>
        <p:nvSpPr>
          <p:cNvPr id="204" name="Google Shape;204;p30"/>
          <p:cNvSpPr/>
          <p:nvPr/>
        </p:nvSpPr>
        <p:spPr>
          <a:xfrm>
            <a:off x="5755950" y="3687350"/>
            <a:ext cx="480300" cy="420300"/>
          </a:xfrm>
          <a:prstGeom prst="rightArrow">
            <a:avLst>
              <a:gd name="adj1" fmla="val 50000"/>
              <a:gd name="adj2" fmla="val 50000"/>
            </a:avLst>
          </a:prstGeom>
          <a:solidFill>
            <a:srgbClr val="63D297"/>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p:cNvSpPr/>
          <p:nvPr/>
        </p:nvSpPr>
        <p:spPr>
          <a:xfrm>
            <a:off x="6672425" y="3480650"/>
            <a:ext cx="1685700" cy="833700"/>
          </a:xfrm>
          <a:prstGeom prst="roundRect">
            <a:avLst>
              <a:gd name="adj" fmla="val 16667"/>
            </a:avLst>
          </a:prstGeom>
          <a:solidFill>
            <a:srgbClr val="D5A6BD"/>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b="1">
                <a:latin typeface="Proxima Nova"/>
                <a:ea typeface="Proxima Nova"/>
                <a:cs typeface="Proxima Nova"/>
                <a:sym typeface="Proxima Nova"/>
              </a:rPr>
              <a:t>user embedding</a:t>
            </a:r>
            <a:endParaRPr b="1">
              <a:latin typeface="Proxima Nova"/>
              <a:ea typeface="Proxima Nova"/>
              <a:cs typeface="Proxima Nova"/>
              <a:sym typeface="Proxima Nova"/>
            </a:endParaRPr>
          </a:p>
          <a:p>
            <a:pPr marL="0" lvl="0" indent="0" algn="ctr" rtl="0">
              <a:spcBef>
                <a:spcPts val="0"/>
              </a:spcBef>
              <a:spcAft>
                <a:spcPts val="0"/>
              </a:spcAft>
              <a:buNone/>
            </a:pPr>
            <a:br>
              <a:rPr lang="zh-TW">
                <a:latin typeface="Proxima Nova"/>
                <a:ea typeface="Proxima Nova"/>
                <a:cs typeface="Proxima Nova"/>
                <a:sym typeface="Proxima Nova"/>
              </a:rPr>
            </a:br>
            <a:r>
              <a:rPr lang="zh-TW">
                <a:latin typeface="Cambria Math"/>
                <a:ea typeface="Cambria Math"/>
                <a:cs typeface="Cambria Math"/>
                <a:sym typeface="Cambria Math"/>
              </a:rPr>
              <a:t>U_i</a:t>
            </a:r>
            <a:endParaRPr>
              <a:latin typeface="Cambria Math"/>
              <a:ea typeface="Cambria Math"/>
              <a:cs typeface="Cambria Math"/>
              <a:sym typeface="Cambria Math"/>
            </a:endParaRPr>
          </a:p>
        </p:txBody>
      </p:sp>
      <p:sp>
        <p:nvSpPr>
          <p:cNvPr id="206" name="Google Shape;206;p30"/>
          <p:cNvSpPr txBox="1"/>
          <p:nvPr/>
        </p:nvSpPr>
        <p:spPr>
          <a:xfrm>
            <a:off x="3671275" y="3149425"/>
            <a:ext cx="1648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TW" b="1">
                <a:latin typeface="Proxima Nova"/>
                <a:ea typeface="Proxima Nova"/>
                <a:cs typeface="Proxima Nova"/>
                <a:sym typeface="Proxima Nova"/>
              </a:rPr>
              <a:t>neural network</a:t>
            </a:r>
            <a:endParaRPr b="1">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Baseline Approach</a:t>
            </a:r>
            <a:endParaRPr/>
          </a:p>
          <a:p>
            <a:pPr marL="0" lvl="0" indent="0" algn="l" rtl="0">
              <a:spcBef>
                <a:spcPts val="0"/>
              </a:spcBef>
              <a:spcAft>
                <a:spcPts val="0"/>
              </a:spcAft>
              <a:buNone/>
            </a:pPr>
            <a:endParaRPr/>
          </a:p>
        </p:txBody>
      </p:sp>
      <p:sp>
        <p:nvSpPr>
          <p:cNvPr id="212" name="Google Shape;212;p31"/>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457200" lvl="0" indent="-323850" algn="l" rtl="0">
              <a:lnSpc>
                <a:spcPct val="150000"/>
              </a:lnSpc>
              <a:spcBef>
                <a:spcPts val="0"/>
              </a:spcBef>
              <a:spcAft>
                <a:spcPts val="0"/>
              </a:spcAft>
              <a:buSzPts val="1500"/>
              <a:buFont typeface="Noto Sans Mono"/>
              <a:buChar char="●"/>
            </a:pPr>
            <a:r>
              <a:rPr lang="zh-TW" sz="1500">
                <a:latin typeface="Noto Sans Mono"/>
                <a:ea typeface="Noto Sans Mono"/>
                <a:cs typeface="Noto Sans Mono"/>
                <a:sym typeface="Noto Sans Mono"/>
              </a:rPr>
              <a:t>Finally, to calculate the similarity, we can use </a:t>
            </a:r>
            <a:r>
              <a:rPr lang="zh-TW" sz="1500" b="1">
                <a:highlight>
                  <a:srgbClr val="FFE599"/>
                </a:highlight>
                <a:latin typeface="Noto Sans Mono"/>
                <a:ea typeface="Noto Sans Mono"/>
                <a:cs typeface="Noto Sans Mono"/>
                <a:sym typeface="Noto Sans Mono"/>
              </a:rPr>
              <a:t>dot product</a:t>
            </a:r>
            <a:r>
              <a:rPr lang="zh-TW" sz="1500">
                <a:latin typeface="Noto Sans Mono"/>
                <a:ea typeface="Noto Sans Mono"/>
                <a:cs typeface="Noto Sans Mono"/>
                <a:sym typeface="Noto Sans Mono"/>
              </a:rPr>
              <a:t> to compare the user embedding with each news embedding.</a:t>
            </a:r>
            <a:endParaRPr sz="1500">
              <a:latin typeface="Noto Sans Mono"/>
              <a:ea typeface="Noto Sans Mono"/>
              <a:cs typeface="Noto Sans Mono"/>
              <a:sym typeface="Noto Sans Mono"/>
            </a:endParaRPr>
          </a:p>
        </p:txBody>
      </p:sp>
      <p:sp>
        <p:nvSpPr>
          <p:cNvPr id="213" name="Google Shape;213;p31"/>
          <p:cNvSpPr/>
          <p:nvPr/>
        </p:nvSpPr>
        <p:spPr>
          <a:xfrm>
            <a:off x="1030425" y="3069650"/>
            <a:ext cx="1648500" cy="1655700"/>
          </a:xfrm>
          <a:prstGeom prst="roundRect">
            <a:avLst>
              <a:gd name="adj" fmla="val 16667"/>
            </a:avLst>
          </a:prstGeom>
          <a:solidFill>
            <a:srgbClr val="F6B26B"/>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b="1">
                <a:latin typeface="Proxima Nova"/>
                <a:ea typeface="Proxima Nova"/>
                <a:cs typeface="Proxima Nova"/>
                <a:sym typeface="Proxima Nova"/>
              </a:rPr>
              <a:t>candidate news</a:t>
            </a:r>
            <a:endParaRPr b="1">
              <a:latin typeface="Proxima Nova"/>
              <a:ea typeface="Proxima Nova"/>
              <a:cs typeface="Proxima Nova"/>
              <a:sym typeface="Proxima Nova"/>
            </a:endParaRPr>
          </a:p>
          <a:p>
            <a:pPr marL="0" lvl="0" indent="0" algn="ctr" rtl="0">
              <a:spcBef>
                <a:spcPts val="0"/>
              </a:spcBef>
              <a:spcAft>
                <a:spcPts val="0"/>
              </a:spcAft>
              <a:buNone/>
            </a:pPr>
            <a:br>
              <a:rPr lang="zh-TW">
                <a:latin typeface="Proxima Nova"/>
                <a:ea typeface="Proxima Nova"/>
                <a:cs typeface="Proxima Nova"/>
                <a:sym typeface="Proxima Nova"/>
              </a:rPr>
            </a:br>
            <a:r>
              <a:rPr lang="zh-TW">
                <a:latin typeface="Cambria Math"/>
                <a:ea typeface="Cambria Math"/>
                <a:cs typeface="Cambria Math"/>
                <a:sym typeface="Cambria Math"/>
              </a:rPr>
              <a:t>N_1</a:t>
            </a:r>
            <a:br>
              <a:rPr lang="zh-TW">
                <a:latin typeface="Cambria Math"/>
                <a:ea typeface="Cambria Math"/>
                <a:cs typeface="Cambria Math"/>
                <a:sym typeface="Cambria Math"/>
              </a:rPr>
            </a:br>
            <a:r>
              <a:rPr lang="zh-TW">
                <a:latin typeface="Cambria Math"/>
                <a:ea typeface="Cambria Math"/>
                <a:cs typeface="Cambria Math"/>
                <a:sym typeface="Cambria Math"/>
              </a:rPr>
              <a:t>N_2</a:t>
            </a:r>
            <a:endParaRPr>
              <a:latin typeface="Cambria Math"/>
              <a:ea typeface="Cambria Math"/>
              <a:cs typeface="Cambria Math"/>
              <a:sym typeface="Cambria Math"/>
            </a:endParaRPr>
          </a:p>
          <a:p>
            <a:pPr marL="0" lvl="0" indent="0" algn="ctr" rtl="0">
              <a:spcBef>
                <a:spcPts val="0"/>
              </a:spcBef>
              <a:spcAft>
                <a:spcPts val="0"/>
              </a:spcAft>
              <a:buNone/>
            </a:pPr>
            <a:r>
              <a:rPr lang="zh-TW">
                <a:latin typeface="Cambria Math"/>
                <a:ea typeface="Cambria Math"/>
                <a:cs typeface="Cambria Math"/>
                <a:sym typeface="Cambria Math"/>
              </a:rPr>
              <a:t>…</a:t>
            </a:r>
            <a:br>
              <a:rPr lang="zh-TW">
                <a:latin typeface="Cambria Math"/>
                <a:ea typeface="Cambria Math"/>
                <a:cs typeface="Cambria Math"/>
                <a:sym typeface="Cambria Math"/>
              </a:rPr>
            </a:br>
            <a:r>
              <a:rPr lang="zh-TW">
                <a:latin typeface="Cambria Math"/>
                <a:ea typeface="Cambria Math"/>
                <a:cs typeface="Cambria Math"/>
                <a:sym typeface="Cambria Math"/>
              </a:rPr>
              <a:t>N_15</a:t>
            </a:r>
            <a:endParaRPr>
              <a:latin typeface="Cambria Math"/>
              <a:ea typeface="Cambria Math"/>
              <a:cs typeface="Cambria Math"/>
              <a:sym typeface="Cambria Math"/>
            </a:endParaRPr>
          </a:p>
        </p:txBody>
      </p:sp>
      <p:sp>
        <p:nvSpPr>
          <p:cNvPr id="214" name="Google Shape;214;p31"/>
          <p:cNvSpPr/>
          <p:nvPr/>
        </p:nvSpPr>
        <p:spPr>
          <a:xfrm>
            <a:off x="5942163" y="3687350"/>
            <a:ext cx="480300" cy="420300"/>
          </a:xfrm>
          <a:prstGeom prst="rightArrow">
            <a:avLst>
              <a:gd name="adj1" fmla="val 50000"/>
              <a:gd name="adj2" fmla="val 50000"/>
            </a:avLst>
          </a:prstGeom>
          <a:solidFill>
            <a:srgbClr val="63D297"/>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1"/>
          <p:cNvSpPr/>
          <p:nvPr/>
        </p:nvSpPr>
        <p:spPr>
          <a:xfrm>
            <a:off x="3942488" y="3480650"/>
            <a:ext cx="1685700" cy="833700"/>
          </a:xfrm>
          <a:prstGeom prst="roundRect">
            <a:avLst>
              <a:gd name="adj" fmla="val 16667"/>
            </a:avLst>
          </a:prstGeom>
          <a:solidFill>
            <a:srgbClr val="D5A6BD"/>
          </a:solidFill>
          <a:ln w="9525" cap="flat" cmpd="sng">
            <a:solidFill>
              <a:srgbClr val="4BA17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b="1">
                <a:latin typeface="Proxima Nova"/>
                <a:ea typeface="Proxima Nova"/>
                <a:cs typeface="Proxima Nova"/>
                <a:sym typeface="Proxima Nova"/>
              </a:rPr>
              <a:t>user embedding</a:t>
            </a:r>
            <a:endParaRPr b="1">
              <a:latin typeface="Proxima Nova"/>
              <a:ea typeface="Proxima Nova"/>
              <a:cs typeface="Proxima Nova"/>
              <a:sym typeface="Proxima Nova"/>
            </a:endParaRPr>
          </a:p>
          <a:p>
            <a:pPr marL="0" lvl="0" indent="0" algn="ctr" rtl="0">
              <a:spcBef>
                <a:spcPts val="0"/>
              </a:spcBef>
              <a:spcAft>
                <a:spcPts val="0"/>
              </a:spcAft>
              <a:buNone/>
            </a:pPr>
            <a:br>
              <a:rPr lang="zh-TW">
                <a:latin typeface="Proxima Nova"/>
                <a:ea typeface="Proxima Nova"/>
                <a:cs typeface="Proxima Nova"/>
                <a:sym typeface="Proxima Nova"/>
              </a:rPr>
            </a:br>
            <a:r>
              <a:rPr lang="zh-TW">
                <a:latin typeface="Cambria Math"/>
                <a:ea typeface="Cambria Math"/>
                <a:cs typeface="Cambria Math"/>
                <a:sym typeface="Cambria Math"/>
              </a:rPr>
              <a:t>U_i</a:t>
            </a:r>
            <a:endParaRPr>
              <a:latin typeface="Cambria Math"/>
              <a:ea typeface="Cambria Math"/>
              <a:cs typeface="Cambria Math"/>
              <a:sym typeface="Cambria Math"/>
            </a:endParaRPr>
          </a:p>
        </p:txBody>
      </p:sp>
      <p:sp>
        <p:nvSpPr>
          <p:cNvPr id="216" name="Google Shape;216;p31"/>
          <p:cNvSpPr/>
          <p:nvPr/>
        </p:nvSpPr>
        <p:spPr>
          <a:xfrm>
            <a:off x="6769650" y="3069650"/>
            <a:ext cx="1648500" cy="1655700"/>
          </a:xfrm>
          <a:prstGeom prst="roundRect">
            <a:avLst>
              <a:gd name="adj" fmla="val 16667"/>
            </a:avLst>
          </a:prstGeom>
          <a:solidFill>
            <a:srgbClr val="A4C2F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b="1">
                <a:latin typeface="Proxima Nova"/>
                <a:ea typeface="Proxima Nova"/>
                <a:cs typeface="Proxima Nova"/>
                <a:sym typeface="Proxima Nova"/>
              </a:rPr>
              <a:t>similarity</a:t>
            </a:r>
            <a:endParaRPr b="1">
              <a:latin typeface="Proxima Nova"/>
              <a:ea typeface="Proxima Nova"/>
              <a:cs typeface="Proxima Nova"/>
              <a:sym typeface="Proxima Nova"/>
            </a:endParaRPr>
          </a:p>
          <a:p>
            <a:pPr marL="0" lvl="0" indent="0" algn="ctr" rtl="0">
              <a:spcBef>
                <a:spcPts val="0"/>
              </a:spcBef>
              <a:spcAft>
                <a:spcPts val="0"/>
              </a:spcAft>
              <a:buNone/>
            </a:pPr>
            <a:br>
              <a:rPr lang="zh-TW">
                <a:latin typeface="Proxima Nova"/>
                <a:ea typeface="Proxima Nova"/>
                <a:cs typeface="Proxima Nova"/>
                <a:sym typeface="Proxima Nova"/>
              </a:rPr>
            </a:br>
            <a:r>
              <a:rPr lang="zh-TW">
                <a:latin typeface="Cambria Math"/>
                <a:ea typeface="Cambria Math"/>
                <a:cs typeface="Cambria Math"/>
                <a:sym typeface="Cambria Math"/>
              </a:rPr>
              <a:t>P_1</a:t>
            </a:r>
            <a:br>
              <a:rPr lang="zh-TW">
                <a:latin typeface="Cambria Math"/>
                <a:ea typeface="Cambria Math"/>
                <a:cs typeface="Cambria Math"/>
                <a:sym typeface="Cambria Math"/>
              </a:rPr>
            </a:br>
            <a:r>
              <a:rPr lang="zh-TW">
                <a:latin typeface="Cambria Math"/>
                <a:ea typeface="Cambria Math"/>
                <a:cs typeface="Cambria Math"/>
                <a:sym typeface="Cambria Math"/>
              </a:rPr>
              <a:t>P_2</a:t>
            </a:r>
            <a:endParaRPr>
              <a:latin typeface="Cambria Math"/>
              <a:ea typeface="Cambria Math"/>
              <a:cs typeface="Cambria Math"/>
              <a:sym typeface="Cambria Math"/>
            </a:endParaRPr>
          </a:p>
          <a:p>
            <a:pPr marL="0" lvl="0" indent="0" algn="ctr" rtl="0">
              <a:spcBef>
                <a:spcPts val="0"/>
              </a:spcBef>
              <a:spcAft>
                <a:spcPts val="0"/>
              </a:spcAft>
              <a:buNone/>
            </a:pPr>
            <a:r>
              <a:rPr lang="zh-TW">
                <a:latin typeface="Cambria Math"/>
                <a:ea typeface="Cambria Math"/>
                <a:cs typeface="Cambria Math"/>
                <a:sym typeface="Cambria Math"/>
              </a:rPr>
              <a:t>…</a:t>
            </a:r>
            <a:br>
              <a:rPr lang="zh-TW">
                <a:latin typeface="Cambria Math"/>
                <a:ea typeface="Cambria Math"/>
                <a:cs typeface="Cambria Math"/>
                <a:sym typeface="Cambria Math"/>
              </a:rPr>
            </a:br>
            <a:r>
              <a:rPr lang="zh-TW">
                <a:latin typeface="Cambria Math"/>
                <a:ea typeface="Cambria Math"/>
                <a:cs typeface="Cambria Math"/>
                <a:sym typeface="Cambria Math"/>
              </a:rPr>
              <a:t>P_15</a:t>
            </a:r>
            <a:endParaRPr>
              <a:latin typeface="Cambria Math"/>
              <a:ea typeface="Cambria Math"/>
              <a:cs typeface="Cambria Math"/>
              <a:sym typeface="Cambria Math"/>
            </a:endParaRPr>
          </a:p>
        </p:txBody>
      </p:sp>
      <p:sp>
        <p:nvSpPr>
          <p:cNvPr id="217" name="Google Shape;217;p31"/>
          <p:cNvSpPr txBox="1"/>
          <p:nvPr/>
        </p:nvSpPr>
        <p:spPr>
          <a:xfrm>
            <a:off x="3039900" y="3687350"/>
            <a:ext cx="588600" cy="5988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accent1"/>
              </a:buClr>
              <a:buSzPts val="1300"/>
              <a:buFont typeface="Lato"/>
              <a:buChar char="●"/>
            </a:pPr>
            <a:endParaRPr sz="1300">
              <a:solidFill>
                <a:schemeClr val="accent1"/>
              </a:solidFill>
              <a:latin typeface="Lato"/>
              <a:ea typeface="Lato"/>
              <a:cs typeface="Lato"/>
              <a:sym typeface="Lato"/>
            </a:endParaRPr>
          </a:p>
        </p:txBody>
      </p:sp>
      <p:sp>
        <p:nvSpPr>
          <p:cNvPr id="218" name="Google Shape;218;p31"/>
          <p:cNvSpPr txBox="1"/>
          <p:nvPr/>
        </p:nvSpPr>
        <p:spPr>
          <a:xfrm>
            <a:off x="2762700" y="4031450"/>
            <a:ext cx="1143000" cy="34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300">
                <a:solidFill>
                  <a:schemeClr val="accent1"/>
                </a:solidFill>
                <a:latin typeface="Lato"/>
                <a:ea typeface="Lato"/>
                <a:cs typeface="Lato"/>
                <a:sym typeface="Lato"/>
              </a:rPr>
              <a:t>(dot product)</a:t>
            </a:r>
            <a:endParaRPr sz="1300">
              <a:solidFill>
                <a:schemeClr val="accen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Tips</a:t>
            </a:r>
            <a:endParaRPr/>
          </a:p>
        </p:txBody>
      </p:sp>
      <p:sp>
        <p:nvSpPr>
          <p:cNvPr id="224" name="Google Shape;224;p32"/>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lnSpcReduction="10000"/>
          </a:bodyPr>
          <a:lstStyle/>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There are a lot of additional information in the dataset, you can find a way to use them in your approach.</a:t>
            </a:r>
            <a:endParaRPr sz="1600">
              <a:latin typeface="Noto Sans Mono"/>
              <a:ea typeface="Noto Sans Mono"/>
              <a:cs typeface="Noto Sans Mono"/>
              <a:sym typeface="Noto Sans Mono"/>
            </a:endParaRPr>
          </a:p>
          <a:p>
            <a:pPr marL="457200" lvl="0" indent="-330200" algn="l" rtl="0">
              <a:lnSpc>
                <a:spcPct val="150000"/>
              </a:lnSpc>
              <a:spcBef>
                <a:spcPts val="0"/>
              </a:spcBef>
              <a:spcAft>
                <a:spcPts val="0"/>
              </a:spcAft>
              <a:buSzPts val="1600"/>
              <a:buFont typeface="Noto Sans Mono"/>
              <a:buChar char="●"/>
            </a:pPr>
            <a:r>
              <a:rPr lang="zh-TW" sz="1600">
                <a:latin typeface="Noto Sans Mono"/>
                <a:ea typeface="Noto Sans Mono"/>
                <a:cs typeface="Noto Sans Mono"/>
                <a:sym typeface="Noto Sans Mono"/>
              </a:rPr>
              <a:t>LLMs may not help you predicting the news in this task, since the data is too big. However, since LLMs can receive huge inputs, you can leverage this to generate “enriched” description of user history, which may help your model predict better.</a:t>
            </a:r>
            <a:endParaRPr sz="1600">
              <a:latin typeface="Noto Sans Mono"/>
              <a:ea typeface="Noto Sans Mono"/>
              <a:cs typeface="Noto Sans Mono"/>
              <a:sym typeface="Noto Sans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Report</a:t>
            </a:r>
            <a:endParaRPr/>
          </a:p>
        </p:txBody>
      </p:sp>
      <p:sp>
        <p:nvSpPr>
          <p:cNvPr id="230" name="Google Shape;230;p33"/>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a:bodyPr>
          <a:lstStyle/>
          <a:p>
            <a:pPr marL="0" lvl="0" indent="0" algn="l" rtl="0">
              <a:lnSpc>
                <a:spcPct val="130000"/>
              </a:lnSpc>
              <a:spcBef>
                <a:spcPts val="0"/>
              </a:spcBef>
              <a:spcAft>
                <a:spcPts val="0"/>
              </a:spcAft>
              <a:buNone/>
            </a:pPr>
            <a:r>
              <a:rPr lang="zh-TW" sz="1500">
                <a:latin typeface="Noto Sans Mono"/>
                <a:ea typeface="Noto Sans Mono"/>
                <a:cs typeface="Noto Sans Mono"/>
                <a:sym typeface="Noto Sans Mono"/>
              </a:rPr>
              <a:t>Please answer the following questions, provide your thinking process as detailed as possible:</a:t>
            </a:r>
            <a:endParaRPr sz="1500">
              <a:latin typeface="Noto Sans Mono"/>
              <a:ea typeface="Noto Sans Mono"/>
              <a:cs typeface="Noto Sans Mono"/>
              <a:sym typeface="Noto Sans Mono"/>
            </a:endParaRPr>
          </a:p>
          <a:p>
            <a:pPr marL="457200" lvl="0" indent="-323850" algn="l" rtl="0">
              <a:lnSpc>
                <a:spcPct val="130000"/>
              </a:lnSpc>
              <a:spcBef>
                <a:spcPts val="1200"/>
              </a:spcBef>
              <a:spcAft>
                <a:spcPts val="0"/>
              </a:spcAft>
              <a:buSzPts val="1500"/>
              <a:buFont typeface="Noto Sans Mono"/>
              <a:buAutoNum type="arabicPeriod"/>
            </a:pPr>
            <a:r>
              <a:rPr lang="zh-TW" sz="1500">
                <a:latin typeface="Noto Sans Mono"/>
                <a:ea typeface="Noto Sans Mono"/>
                <a:cs typeface="Noto Sans Mono"/>
                <a:sym typeface="Noto Sans Mono"/>
              </a:rPr>
              <a:t>(10%) Describe how you solve this problem. Details include preprocessing, embeddings, model selection, hyparameters should be provided.</a:t>
            </a:r>
            <a:endParaRPr sz="1500">
              <a:latin typeface="Noto Sans Mono"/>
              <a:ea typeface="Noto Sans Mono"/>
              <a:cs typeface="Noto Sans Mono"/>
              <a:sym typeface="Noto Sans Mono"/>
            </a:endParaRPr>
          </a:p>
          <a:p>
            <a:pPr marL="0" lvl="0" indent="0" algn="l" rtl="0">
              <a:lnSpc>
                <a:spcPct val="130000"/>
              </a:lnSpc>
              <a:spcBef>
                <a:spcPts val="1200"/>
              </a:spcBef>
              <a:spcAft>
                <a:spcPts val="1200"/>
              </a:spcAft>
              <a:buNone/>
            </a:pPr>
            <a:r>
              <a:rPr lang="zh-TW" sz="1500">
                <a:latin typeface="Noto Sans Mono"/>
                <a:ea typeface="Noto Sans Mono"/>
                <a:cs typeface="Noto Sans Mono"/>
                <a:sym typeface="Noto Sans Mono"/>
              </a:rPr>
              <a:t>(There will be penalties to your score if you failed to do so)</a:t>
            </a:r>
            <a:endParaRPr sz="1500">
              <a:latin typeface="Noto Sans Mono"/>
              <a:ea typeface="Noto Sans Mono"/>
              <a:cs typeface="Noto Sans Mono"/>
              <a:sym typeface="Noto Sans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Report (cont.)</a:t>
            </a:r>
            <a:endParaRPr/>
          </a:p>
        </p:txBody>
      </p:sp>
      <p:sp>
        <p:nvSpPr>
          <p:cNvPr id="236" name="Google Shape;236;p34"/>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lnSpcReduction="10000"/>
          </a:bodyPr>
          <a:lstStyle/>
          <a:p>
            <a:pPr marL="0" lvl="0" indent="0" algn="l" rtl="0">
              <a:lnSpc>
                <a:spcPct val="130000"/>
              </a:lnSpc>
              <a:spcBef>
                <a:spcPts val="0"/>
              </a:spcBef>
              <a:spcAft>
                <a:spcPts val="0"/>
              </a:spcAft>
              <a:buNone/>
            </a:pPr>
            <a:r>
              <a:rPr lang="zh-TW" sz="1500">
                <a:latin typeface="Noto Sans Mono"/>
                <a:ea typeface="Noto Sans Mono"/>
                <a:cs typeface="Noto Sans Mono"/>
                <a:sym typeface="Noto Sans Mono"/>
              </a:rPr>
              <a:t>2.  (5%) Choose a </a:t>
            </a:r>
            <a:r>
              <a:rPr lang="zh-TW" sz="1500" b="1">
                <a:latin typeface="Noto Sans Mono"/>
                <a:ea typeface="Noto Sans Mono"/>
                <a:cs typeface="Noto Sans Mono"/>
                <a:sym typeface="Noto Sans Mono"/>
              </a:rPr>
              <a:t>variable (e.g. different model, different approach)</a:t>
            </a:r>
            <a:r>
              <a:rPr lang="zh-TW" sz="1500">
                <a:latin typeface="Noto Sans Mono"/>
                <a:ea typeface="Noto Sans Mono"/>
                <a:cs typeface="Noto Sans Mono"/>
                <a:sym typeface="Noto Sans Mono"/>
              </a:rPr>
              <a:t> </a:t>
            </a:r>
            <a:r>
              <a:rPr lang="zh-TW" sz="1500" b="1" u="sng">
                <a:solidFill>
                  <a:srgbClr val="980000"/>
                </a:solidFill>
                <a:latin typeface="Noto Sans Mono"/>
                <a:ea typeface="Noto Sans Mono"/>
                <a:cs typeface="Noto Sans Mono"/>
                <a:sym typeface="Noto Sans Mono"/>
              </a:rPr>
              <a:t>excluding hyperparameters</a:t>
            </a:r>
            <a:r>
              <a:rPr lang="zh-TW" sz="1500">
                <a:latin typeface="Noto Sans Mono"/>
                <a:ea typeface="Noto Sans Mono"/>
                <a:cs typeface="Noto Sans Mono"/>
                <a:sym typeface="Noto Sans Mono"/>
              </a:rPr>
              <a:t> and compare their performance. </a:t>
            </a:r>
            <a:r>
              <a:rPr lang="zh-TW" sz="1500" b="1">
                <a:highlight>
                  <a:srgbClr val="FFE599"/>
                </a:highlight>
                <a:latin typeface="Noto Sans Mono"/>
                <a:ea typeface="Noto Sans Mono"/>
                <a:cs typeface="Noto Sans Mono"/>
                <a:sym typeface="Noto Sans Mono"/>
              </a:rPr>
              <a:t>(You cannot change ONLY the hyperparameters)</a:t>
            </a:r>
            <a:endParaRPr sz="1500" b="1">
              <a:highlight>
                <a:srgbClr val="FFE599"/>
              </a:highlight>
              <a:latin typeface="Noto Sans Mono"/>
              <a:ea typeface="Noto Sans Mono"/>
              <a:cs typeface="Noto Sans Mono"/>
              <a:sym typeface="Noto Sans Mono"/>
            </a:endParaRPr>
          </a:p>
          <a:p>
            <a:pPr marL="0" lvl="0" indent="0" algn="l" rtl="0">
              <a:lnSpc>
                <a:spcPct val="130000"/>
              </a:lnSpc>
              <a:spcBef>
                <a:spcPts val="1200"/>
              </a:spcBef>
              <a:spcAft>
                <a:spcPts val="0"/>
              </a:spcAft>
              <a:buNone/>
            </a:pPr>
            <a:r>
              <a:rPr lang="zh-TW" sz="1500">
                <a:latin typeface="Noto Sans Mono"/>
                <a:ea typeface="Noto Sans Mono"/>
                <a:cs typeface="Noto Sans Mono"/>
                <a:sym typeface="Noto Sans Mono"/>
              </a:rPr>
              <a:t>(5%) Explain what causes the difference of performance or why.</a:t>
            </a:r>
            <a:endParaRPr sz="1500">
              <a:latin typeface="Noto Sans Mono"/>
              <a:ea typeface="Noto Sans Mono"/>
              <a:cs typeface="Noto Sans Mono"/>
              <a:sym typeface="Noto Sans Mono"/>
            </a:endParaRPr>
          </a:p>
          <a:p>
            <a:pPr marL="0" lvl="0" indent="0" algn="l" rtl="0">
              <a:lnSpc>
                <a:spcPct val="130000"/>
              </a:lnSpc>
              <a:spcBef>
                <a:spcPts val="1200"/>
              </a:spcBef>
              <a:spcAft>
                <a:spcPts val="1200"/>
              </a:spcAft>
              <a:buNone/>
            </a:pPr>
            <a:r>
              <a:rPr lang="zh-TW" sz="1500">
                <a:latin typeface="Noto Sans Mono"/>
                <a:ea typeface="Noto Sans Mono"/>
                <a:cs typeface="Noto Sans Mono"/>
                <a:sym typeface="Noto Sans Mono"/>
              </a:rPr>
              <a:t>(For example, you were using BERT as the encoder, in Q2 you tried RoBERTa and found that using RoBERTa will yield better performance. Give a reason why this is the case)</a:t>
            </a:r>
            <a:endParaRPr sz="1500">
              <a:latin typeface="Noto Sans Mono"/>
              <a:ea typeface="Noto Sans Mono"/>
              <a:cs typeface="Noto Sans Mono"/>
              <a:sym typeface="Noto Sans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Report (cont.)</a:t>
            </a:r>
            <a:endParaRPr/>
          </a:p>
        </p:txBody>
      </p:sp>
      <p:sp>
        <p:nvSpPr>
          <p:cNvPr id="242" name="Google Shape;242;p35"/>
          <p:cNvSpPr txBox="1">
            <a:spLocks noGrp="1"/>
          </p:cNvSpPr>
          <p:nvPr>
            <p:ph type="body" idx="1"/>
          </p:nvPr>
        </p:nvSpPr>
        <p:spPr>
          <a:xfrm>
            <a:off x="729450" y="2078875"/>
            <a:ext cx="7688700" cy="2693700"/>
          </a:xfrm>
          <a:prstGeom prst="rect">
            <a:avLst/>
          </a:prstGeom>
        </p:spPr>
        <p:txBody>
          <a:bodyPr spcFirstLastPara="1" wrap="square" lIns="91425" tIns="91425" rIns="91425" bIns="91425" anchor="t" anchorCtr="0">
            <a:normAutofit fontScale="92500" lnSpcReduction="10000"/>
          </a:bodyPr>
          <a:lstStyle/>
          <a:p>
            <a:pPr marL="0" lvl="0" indent="0" algn="l" rtl="0">
              <a:lnSpc>
                <a:spcPct val="130000"/>
              </a:lnSpc>
              <a:spcBef>
                <a:spcPts val="0"/>
              </a:spcBef>
              <a:spcAft>
                <a:spcPts val="0"/>
              </a:spcAft>
              <a:buNone/>
            </a:pPr>
            <a:r>
              <a:rPr lang="zh-TW" sz="1500">
                <a:latin typeface="Noto Sans Mono"/>
                <a:ea typeface="Noto Sans Mono"/>
                <a:cs typeface="Noto Sans Mono"/>
                <a:sym typeface="Noto Sans Mono"/>
              </a:rPr>
              <a:t>3.  (10%) Do </a:t>
            </a:r>
            <a:r>
              <a:rPr lang="zh-TW" sz="1500" b="1">
                <a:solidFill>
                  <a:srgbClr val="616161"/>
                </a:solidFill>
                <a:latin typeface="Noto Sans Mono"/>
                <a:ea typeface="Noto Sans Mono"/>
                <a:cs typeface="Noto Sans Mono"/>
                <a:sym typeface="Noto Sans Mono"/>
              </a:rPr>
              <a:t>error analysis</a:t>
            </a:r>
            <a:r>
              <a:rPr lang="zh-TW" sz="1500">
                <a:latin typeface="Noto Sans Mono"/>
                <a:ea typeface="Noto Sans Mono"/>
                <a:cs typeface="Noto Sans Mono"/>
                <a:sym typeface="Noto Sans Mono"/>
              </a:rPr>
              <a:t> or </a:t>
            </a:r>
            <a:r>
              <a:rPr lang="zh-TW" sz="1500" b="1">
                <a:solidFill>
                  <a:srgbClr val="616161"/>
                </a:solidFill>
                <a:latin typeface="Noto Sans Mono"/>
                <a:ea typeface="Noto Sans Mono"/>
                <a:cs typeface="Noto Sans Mono"/>
                <a:sym typeface="Noto Sans Mono"/>
              </a:rPr>
              <a:t>case study</a:t>
            </a:r>
            <a:r>
              <a:rPr lang="zh-TW" sz="1500">
                <a:latin typeface="Noto Sans Mono"/>
                <a:ea typeface="Noto Sans Mono"/>
                <a:cs typeface="Noto Sans Mono"/>
                <a:sym typeface="Noto Sans Mono"/>
              </a:rPr>
              <a:t>. Is there anything worth mentioning while checking the mispredicted data? Share with us. Anytime you try to make a conclusion about the data or model, you should provide concrete data example.</a:t>
            </a:r>
            <a:endParaRPr sz="1500">
              <a:latin typeface="Noto Sans Mono"/>
              <a:ea typeface="Noto Sans Mono"/>
              <a:cs typeface="Noto Sans Mono"/>
              <a:sym typeface="Noto Sans Mono"/>
            </a:endParaRPr>
          </a:p>
          <a:p>
            <a:pPr marL="0" lvl="0" indent="0" algn="l" rtl="0">
              <a:lnSpc>
                <a:spcPct val="130000"/>
              </a:lnSpc>
              <a:spcBef>
                <a:spcPts val="1200"/>
              </a:spcBef>
              <a:spcAft>
                <a:spcPts val="0"/>
              </a:spcAft>
              <a:buNone/>
            </a:pPr>
            <a:r>
              <a:rPr lang="zh-TW" sz="1500">
                <a:latin typeface="Noto Sans Mono"/>
                <a:ea typeface="Noto Sans Mono"/>
                <a:cs typeface="Noto Sans Mono"/>
                <a:sym typeface="Noto Sans Mono"/>
              </a:rPr>
              <a:t>[e.g. I think the model predicts poorly when ... (provide error examples)]</a:t>
            </a:r>
            <a:endParaRPr sz="1500">
              <a:latin typeface="Noto Sans Mono"/>
              <a:ea typeface="Noto Sans Mono"/>
              <a:cs typeface="Noto Sans Mono"/>
              <a:sym typeface="Noto Sans Mono"/>
            </a:endParaRPr>
          </a:p>
          <a:p>
            <a:pPr marL="0" lvl="0" indent="0" algn="l" rtl="0">
              <a:lnSpc>
                <a:spcPct val="130000"/>
              </a:lnSpc>
              <a:spcBef>
                <a:spcPts val="1200"/>
              </a:spcBef>
              <a:spcAft>
                <a:spcPts val="1200"/>
              </a:spcAft>
              <a:buNone/>
            </a:pPr>
            <a:r>
              <a:rPr lang="zh-TW" sz="1500" b="1" u="sng">
                <a:solidFill>
                  <a:srgbClr val="980000"/>
                </a:solidFill>
                <a:latin typeface="Noto Sans Mono"/>
                <a:ea typeface="Noto Sans Mono"/>
                <a:cs typeface="Noto Sans Mono"/>
                <a:sym typeface="Noto Sans Mono"/>
              </a:rPr>
              <a:t>There is no “correct answer” to above questions, just do your best and answer them in detail.</a:t>
            </a:r>
            <a:endParaRPr sz="1500" b="1" u="sng">
              <a:solidFill>
                <a:srgbClr val="980000"/>
              </a:solidFill>
              <a:latin typeface="Noto Sans Mono"/>
              <a:ea typeface="Noto Sans Mono"/>
              <a:cs typeface="Noto Sans Mono"/>
              <a:sym typeface="Noto Sans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Grading Policy</a:t>
            </a:r>
            <a:endParaRPr/>
          </a:p>
        </p:txBody>
      </p:sp>
      <p:sp>
        <p:nvSpPr>
          <p:cNvPr id="248" name="Google Shape;248;p36"/>
          <p:cNvSpPr txBox="1">
            <a:spLocks noGrp="1"/>
          </p:cNvSpPr>
          <p:nvPr>
            <p:ph type="body" idx="1"/>
          </p:nvPr>
        </p:nvSpPr>
        <p:spPr>
          <a:xfrm>
            <a:off x="729450" y="1950450"/>
            <a:ext cx="7688700" cy="30804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Kaggle (70% of total)</a:t>
            </a:r>
            <a:r>
              <a:rPr lang="zh-TW" sz="1600">
                <a:solidFill>
                  <a:srgbClr val="616161"/>
                </a:solidFill>
                <a:latin typeface="Noto Sans Mono"/>
                <a:ea typeface="Noto Sans Mono"/>
                <a:cs typeface="Noto Sans Mono"/>
                <a:sym typeface="Noto Sans Mono"/>
              </a:rPr>
              <a:t>, details in the next slides.</a:t>
            </a:r>
            <a:endParaRPr sz="1600">
              <a:solidFill>
                <a:srgbClr val="616161"/>
              </a:solidFill>
              <a:latin typeface="Noto Sans Mono"/>
              <a:ea typeface="Noto Sans Mono"/>
              <a:cs typeface="Noto Sans Mono"/>
              <a:sym typeface="Noto Sans Mono"/>
            </a:endParaRPr>
          </a:p>
          <a:p>
            <a:pPr marL="457200" lvl="0" indent="-330200" algn="l" rtl="0">
              <a:lnSpc>
                <a:spcPct val="150000"/>
              </a:lnSpc>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Report (30% of total)</a:t>
            </a:r>
            <a:r>
              <a:rPr lang="zh-TW" sz="1600">
                <a:solidFill>
                  <a:srgbClr val="616161"/>
                </a:solidFill>
                <a:latin typeface="Noto Sans Mono"/>
                <a:ea typeface="Noto Sans Mono"/>
                <a:cs typeface="Noto Sans Mono"/>
                <a:sym typeface="Noto Sans Mono"/>
              </a:rPr>
              <a:t>, points are attached at the start of each question.</a:t>
            </a:r>
            <a:endParaRPr sz="1600">
              <a:solidFill>
                <a:srgbClr val="616161"/>
              </a:solidFill>
              <a:latin typeface="Noto Sans Mono"/>
              <a:ea typeface="Noto Sans Mono"/>
              <a:cs typeface="Noto Sans Mono"/>
              <a:sym typeface="Noto Sa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Grading Policy - Kaggle</a:t>
            </a:r>
            <a:endParaRPr/>
          </a:p>
        </p:txBody>
      </p:sp>
      <p:sp>
        <p:nvSpPr>
          <p:cNvPr id="254" name="Google Shape;254;p37"/>
          <p:cNvSpPr txBox="1">
            <a:spLocks noGrp="1"/>
          </p:cNvSpPr>
          <p:nvPr>
            <p:ph type="body" idx="1"/>
          </p:nvPr>
        </p:nvSpPr>
        <p:spPr>
          <a:xfrm>
            <a:off x="729450" y="1950450"/>
            <a:ext cx="7688700" cy="30804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Baselines (90% of Kaggle; 30% public, 70% private)</a:t>
            </a:r>
            <a:endParaRPr sz="1600" b="1">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We have 2 baselines: Strong Baseline (</a:t>
            </a:r>
            <a:r>
              <a:rPr lang="zh-TW" sz="1600" b="1">
                <a:solidFill>
                  <a:srgbClr val="4A86E8"/>
                </a:solidFill>
                <a:latin typeface="Noto Sans Mono"/>
                <a:ea typeface="Noto Sans Mono"/>
                <a:cs typeface="Noto Sans Mono"/>
                <a:sym typeface="Noto Sans Mono"/>
              </a:rPr>
              <a:t>B_1</a:t>
            </a:r>
            <a:r>
              <a:rPr lang="zh-TW" sz="1600">
                <a:solidFill>
                  <a:srgbClr val="616161"/>
                </a:solidFill>
                <a:latin typeface="Noto Sans Mono"/>
                <a:ea typeface="Noto Sans Mono"/>
                <a:cs typeface="Noto Sans Mono"/>
                <a:sym typeface="Noto Sans Mono"/>
              </a:rPr>
              <a:t>), Simple Baseline (</a:t>
            </a:r>
            <a:r>
              <a:rPr lang="zh-TW" sz="1600" b="1">
                <a:solidFill>
                  <a:schemeClr val="dk1"/>
                </a:solidFill>
                <a:latin typeface="Noto Sans Mono"/>
                <a:ea typeface="Noto Sans Mono"/>
                <a:cs typeface="Noto Sans Mono"/>
                <a:sym typeface="Noto Sans Mono"/>
              </a:rPr>
              <a:t>B_2</a:t>
            </a:r>
            <a:r>
              <a:rPr lang="zh-TW" sz="1600">
                <a:solidFill>
                  <a:srgbClr val="616161"/>
                </a:solidFill>
                <a:latin typeface="Noto Sans Mono"/>
                <a:ea typeface="Noto Sans Mono"/>
                <a:cs typeface="Noto Sans Mono"/>
                <a:sym typeface="Noto Sans Mono"/>
              </a:rPr>
              <a:t>)</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Your score &gt; </a:t>
            </a:r>
            <a:r>
              <a:rPr lang="zh-TW" sz="1600" b="1">
                <a:solidFill>
                  <a:srgbClr val="4A86E8"/>
                </a:solidFill>
                <a:latin typeface="Noto Sans Mono"/>
                <a:ea typeface="Noto Sans Mono"/>
                <a:cs typeface="Noto Sans Mono"/>
                <a:sym typeface="Noto Sans Mono"/>
              </a:rPr>
              <a:t>B_1</a:t>
            </a:r>
            <a:r>
              <a:rPr lang="zh-TW" sz="1600" b="1">
                <a:solidFill>
                  <a:srgbClr val="616161"/>
                </a:solidFill>
                <a:latin typeface="Noto Sans Mono"/>
                <a:ea typeface="Noto Sans Mono"/>
                <a:cs typeface="Noto Sans Mono"/>
                <a:sym typeface="Noto Sans Mono"/>
              </a:rPr>
              <a:t>:</a:t>
            </a:r>
            <a:r>
              <a:rPr lang="zh-TW" sz="1600">
                <a:solidFill>
                  <a:srgbClr val="616161"/>
                </a:solidFill>
                <a:latin typeface="Noto Sans Mono"/>
                <a:ea typeface="Noto Sans Mono"/>
                <a:cs typeface="Noto Sans Mono"/>
                <a:sym typeface="Noto Sans Mono"/>
              </a:rPr>
              <a:t> 90</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b="1">
                <a:solidFill>
                  <a:srgbClr val="4A86E8"/>
                </a:solidFill>
                <a:latin typeface="Noto Sans Mono"/>
                <a:ea typeface="Noto Sans Mono"/>
                <a:cs typeface="Noto Sans Mono"/>
                <a:sym typeface="Noto Sans Mono"/>
              </a:rPr>
              <a:t>B_1</a:t>
            </a:r>
            <a:r>
              <a:rPr lang="zh-TW" sz="1600" b="1">
                <a:solidFill>
                  <a:srgbClr val="616161"/>
                </a:solidFill>
                <a:latin typeface="Noto Sans Mono"/>
                <a:ea typeface="Noto Sans Mono"/>
                <a:cs typeface="Noto Sans Mono"/>
                <a:sym typeface="Noto Sans Mono"/>
              </a:rPr>
              <a:t> &gt; Your score (X) &gt; </a:t>
            </a:r>
            <a:r>
              <a:rPr lang="zh-TW" sz="1600" b="1">
                <a:solidFill>
                  <a:schemeClr val="dk1"/>
                </a:solidFill>
                <a:latin typeface="Noto Sans Mono"/>
                <a:ea typeface="Noto Sans Mono"/>
                <a:cs typeface="Noto Sans Mono"/>
                <a:sym typeface="Noto Sans Mono"/>
              </a:rPr>
              <a:t>B_2</a:t>
            </a:r>
            <a:r>
              <a:rPr lang="zh-TW" sz="1600" b="1">
                <a:solidFill>
                  <a:srgbClr val="616161"/>
                </a:solidFill>
                <a:latin typeface="Noto Sans Mono"/>
                <a:ea typeface="Noto Sans Mono"/>
                <a:cs typeface="Noto Sans Mono"/>
                <a:sym typeface="Noto Sans Mono"/>
              </a:rPr>
              <a:t>:</a:t>
            </a:r>
            <a:r>
              <a:rPr lang="zh-TW" sz="1600">
                <a:solidFill>
                  <a:srgbClr val="616161"/>
                </a:solidFill>
                <a:latin typeface="Noto Sans Mono"/>
                <a:ea typeface="Noto Sans Mono"/>
                <a:cs typeface="Noto Sans Mono"/>
                <a:sym typeface="Noto Sans Mono"/>
              </a:rPr>
              <a:t> (X - B_2) / (B_1 - B_2) * 20 + 70.</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Your score (X) &lt; </a:t>
            </a:r>
            <a:r>
              <a:rPr lang="zh-TW" sz="1600" b="1">
                <a:solidFill>
                  <a:schemeClr val="dk1"/>
                </a:solidFill>
                <a:latin typeface="Noto Sans Mono"/>
                <a:ea typeface="Noto Sans Mono"/>
                <a:cs typeface="Noto Sans Mono"/>
                <a:sym typeface="Noto Sans Mono"/>
              </a:rPr>
              <a:t>B_2</a:t>
            </a:r>
            <a:r>
              <a:rPr lang="zh-TW" sz="1600" b="1">
                <a:solidFill>
                  <a:srgbClr val="616161"/>
                </a:solidFill>
                <a:latin typeface="Noto Sans Mono"/>
                <a:ea typeface="Noto Sans Mono"/>
                <a:cs typeface="Noto Sans Mono"/>
                <a:sym typeface="Noto Sans Mono"/>
              </a:rPr>
              <a:t>:</a:t>
            </a:r>
            <a:r>
              <a:rPr lang="zh-TW" sz="1600">
                <a:solidFill>
                  <a:srgbClr val="616161"/>
                </a:solidFill>
                <a:latin typeface="Noto Sans Mono"/>
                <a:ea typeface="Noto Sans Mono"/>
                <a:cs typeface="Noto Sans Mono"/>
                <a:sym typeface="Noto Sans Mono"/>
              </a:rPr>
              <a:t> X / B_2 * 70.</a:t>
            </a:r>
            <a:endParaRPr sz="1600">
              <a:solidFill>
                <a:srgbClr val="616161"/>
              </a:solidFill>
              <a:latin typeface="Noto Sans Mono"/>
              <a:ea typeface="Noto Sans Mono"/>
              <a:cs typeface="Noto Sans Mono"/>
              <a:sym typeface="Noto Sa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Grading Policy - Kaggle</a:t>
            </a:r>
            <a:endParaRPr/>
          </a:p>
        </p:txBody>
      </p:sp>
      <p:sp>
        <p:nvSpPr>
          <p:cNvPr id="260" name="Google Shape;260;p38"/>
          <p:cNvSpPr txBox="1">
            <a:spLocks noGrp="1"/>
          </p:cNvSpPr>
          <p:nvPr>
            <p:ph type="body" idx="1"/>
          </p:nvPr>
        </p:nvSpPr>
        <p:spPr>
          <a:xfrm>
            <a:off x="729450" y="1950450"/>
            <a:ext cx="3124800" cy="30804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Assume that:</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b="1">
                <a:solidFill>
                  <a:srgbClr val="4A86E8"/>
                </a:solidFill>
                <a:latin typeface="Noto Sans Mono"/>
                <a:ea typeface="Noto Sans Mono"/>
                <a:cs typeface="Noto Sans Mono"/>
                <a:sym typeface="Noto Sans Mono"/>
              </a:rPr>
              <a:t>B_1</a:t>
            </a:r>
            <a:r>
              <a:rPr lang="zh-TW" sz="1600">
                <a:solidFill>
                  <a:srgbClr val="616161"/>
                </a:solidFill>
                <a:latin typeface="Noto Sans Mono"/>
                <a:ea typeface="Noto Sans Mono"/>
                <a:cs typeface="Noto Sans Mono"/>
                <a:sym typeface="Noto Sans Mono"/>
              </a:rPr>
              <a:t> = 0.55</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b="1">
                <a:solidFill>
                  <a:schemeClr val="dk1"/>
                </a:solidFill>
                <a:latin typeface="Noto Sans Mono"/>
                <a:ea typeface="Noto Sans Mono"/>
                <a:cs typeface="Noto Sans Mono"/>
                <a:sym typeface="Noto Sans Mono"/>
              </a:rPr>
              <a:t>B_2</a:t>
            </a:r>
            <a:r>
              <a:rPr lang="zh-TW" sz="1600">
                <a:solidFill>
                  <a:srgbClr val="616161"/>
                </a:solidFill>
                <a:latin typeface="Noto Sans Mono"/>
                <a:ea typeface="Noto Sans Mono"/>
                <a:cs typeface="Noto Sans Mono"/>
                <a:sym typeface="Noto Sans Mono"/>
              </a:rPr>
              <a:t> = 0.5</a:t>
            </a:r>
            <a:endParaRPr sz="1600">
              <a:solidFill>
                <a:srgbClr val="616161"/>
              </a:solidFill>
              <a:latin typeface="Noto Sans Mono"/>
              <a:ea typeface="Noto Sans Mono"/>
              <a:cs typeface="Noto Sans Mono"/>
              <a:sym typeface="Noto Sans Mono"/>
            </a:endParaRPr>
          </a:p>
          <a:p>
            <a:pPr marL="0" lvl="0" indent="0" algn="l" rtl="0">
              <a:lnSpc>
                <a:spcPct val="150000"/>
              </a:lnSpc>
              <a:spcBef>
                <a:spcPts val="1200"/>
              </a:spcBef>
              <a:spcAft>
                <a:spcPts val="0"/>
              </a:spcAft>
              <a:buNone/>
            </a:pPr>
            <a:endParaRPr sz="1600">
              <a:solidFill>
                <a:srgbClr val="616161"/>
              </a:solidFill>
              <a:latin typeface="Noto Sans Mono"/>
              <a:ea typeface="Noto Sans Mono"/>
              <a:cs typeface="Noto Sans Mono"/>
              <a:sym typeface="Noto Sans Mono"/>
            </a:endParaRPr>
          </a:p>
          <a:p>
            <a:pPr marL="457200" lvl="0" indent="-330200" algn="l" rtl="0">
              <a:lnSpc>
                <a:spcPct val="150000"/>
              </a:lnSpc>
              <a:spcBef>
                <a:spcPts val="120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x-axis: F1</a:t>
            </a:r>
            <a:endParaRPr sz="1600">
              <a:solidFill>
                <a:srgbClr val="616161"/>
              </a:solidFill>
              <a:latin typeface="Noto Sans Mono"/>
              <a:ea typeface="Noto Sans Mono"/>
              <a:cs typeface="Noto Sans Mono"/>
              <a:sym typeface="Noto Sans Mono"/>
            </a:endParaRPr>
          </a:p>
          <a:p>
            <a:pPr marL="457200" lvl="0" indent="-330200" algn="l" rtl="0">
              <a:lnSpc>
                <a:spcPct val="150000"/>
              </a:lnSpc>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y-axis: score</a:t>
            </a:r>
            <a:endParaRPr sz="1600">
              <a:solidFill>
                <a:srgbClr val="616161"/>
              </a:solidFill>
              <a:latin typeface="Noto Sans Mono"/>
              <a:ea typeface="Noto Sans Mono"/>
              <a:cs typeface="Noto Sans Mono"/>
              <a:sym typeface="Noto Sans Mono"/>
            </a:endParaRPr>
          </a:p>
        </p:txBody>
      </p:sp>
      <p:pic>
        <p:nvPicPr>
          <p:cNvPr id="261" name="Google Shape;261;p38"/>
          <p:cNvPicPr preferRelativeResize="0"/>
          <p:nvPr/>
        </p:nvPicPr>
        <p:blipFill>
          <a:blip r:embed="rId3">
            <a:alphaModFix/>
          </a:blip>
          <a:stretch>
            <a:fillRect/>
          </a:stretch>
        </p:blipFill>
        <p:spPr>
          <a:xfrm>
            <a:off x="3894750" y="2020809"/>
            <a:ext cx="4708601" cy="293967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Grading Policy - Kaggle</a:t>
            </a:r>
            <a:endParaRPr/>
          </a:p>
        </p:txBody>
      </p:sp>
      <p:sp>
        <p:nvSpPr>
          <p:cNvPr id="267" name="Google Shape;267;p39"/>
          <p:cNvSpPr txBox="1">
            <a:spLocks noGrp="1"/>
          </p:cNvSpPr>
          <p:nvPr>
            <p:ph type="body" idx="1"/>
          </p:nvPr>
        </p:nvSpPr>
        <p:spPr>
          <a:xfrm>
            <a:off x="729450" y="1950450"/>
            <a:ext cx="7688700" cy="30804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Ranking (10% of Kaggle)</a:t>
            </a:r>
            <a:endParaRPr sz="1600" b="1">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Compete with your classmates.</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Rank 1-5: 10%</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Rank 6-10: 8%</a:t>
            </a:r>
            <a:endParaRPr sz="1600">
              <a:solidFill>
                <a:srgbClr val="616161"/>
              </a:solidFill>
              <a:latin typeface="Noto Sans Mono"/>
              <a:ea typeface="Noto Sans Mono"/>
              <a:cs typeface="Noto Sans Mono"/>
              <a:sym typeface="Noto Sans Mono"/>
            </a:endParaRPr>
          </a:p>
          <a:p>
            <a:pPr marL="914400" lvl="0" indent="0" algn="l" rtl="0">
              <a:lnSpc>
                <a:spcPct val="150000"/>
              </a:lnSpc>
              <a:spcBef>
                <a:spcPts val="1200"/>
              </a:spcBef>
              <a:spcAft>
                <a:spcPts val="0"/>
              </a:spcAft>
              <a:buNone/>
            </a:pPr>
            <a:r>
              <a:rPr lang="zh-TW" sz="1600">
                <a:solidFill>
                  <a:srgbClr val="616161"/>
                </a:solidFill>
                <a:latin typeface="Noto Sans Mono"/>
                <a:ea typeface="Noto Sans Mono"/>
                <a:cs typeface="Noto Sans Mono"/>
                <a:sym typeface="Noto Sans Mono"/>
              </a:rPr>
              <a:t>...</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120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Rank 21-25: 2%</a:t>
            </a:r>
            <a:endParaRPr sz="1600">
              <a:solidFill>
                <a:srgbClr val="616161"/>
              </a:solidFill>
              <a:latin typeface="Noto Sans Mono"/>
              <a:ea typeface="Noto Sans Mono"/>
              <a:cs typeface="Noto Sans Mono"/>
              <a:sym typeface="Noto Sans Mono"/>
            </a:endParaRPr>
          </a:p>
          <a:p>
            <a:pPr marL="914400" lvl="1" indent="-330200" algn="l" rtl="0">
              <a:lnSpc>
                <a:spcPct val="150000"/>
              </a:lnSpc>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Rank &gt; 25: no points :(</a:t>
            </a:r>
            <a:endParaRPr sz="1600">
              <a:solidFill>
                <a:srgbClr val="616161"/>
              </a:solidFill>
              <a:latin typeface="Noto Sans Mono"/>
              <a:ea typeface="Noto Sans Mono"/>
              <a:cs typeface="Noto Sans Mono"/>
              <a:sym typeface="Noto Sa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E3 Submission</a:t>
            </a:r>
            <a:endParaRPr/>
          </a:p>
        </p:txBody>
      </p:sp>
      <p:sp>
        <p:nvSpPr>
          <p:cNvPr id="273" name="Google Shape;273;p40"/>
          <p:cNvSpPr txBox="1">
            <a:spLocks noGrp="1"/>
          </p:cNvSpPr>
          <p:nvPr>
            <p:ph type="body" idx="1"/>
          </p:nvPr>
        </p:nvSpPr>
        <p:spPr>
          <a:xfrm>
            <a:off x="729450" y="1937325"/>
            <a:ext cx="7688700" cy="3064500"/>
          </a:xfrm>
          <a:prstGeom prst="rect">
            <a:avLst/>
          </a:prstGeom>
        </p:spPr>
        <p:txBody>
          <a:bodyPr spcFirstLastPara="1" wrap="square" lIns="91425" tIns="91425" rIns="91425" bIns="91425" anchor="t" anchorCtr="0">
            <a:normAutofit fontScale="92500"/>
          </a:bodyPr>
          <a:lstStyle/>
          <a:p>
            <a:pPr marL="457200" lvl="0" indent="-330200" algn="l" rtl="0">
              <a:lnSpc>
                <a:spcPct val="150000"/>
              </a:lnSpc>
              <a:spcBef>
                <a:spcPts val="0"/>
              </a:spcBef>
              <a:spcAft>
                <a:spcPts val="0"/>
              </a:spcAft>
              <a:buClr>
                <a:srgbClr val="616161"/>
              </a:buClr>
              <a:buSzPts val="1600"/>
              <a:buChar char="●"/>
            </a:pPr>
            <a:r>
              <a:rPr lang="zh-TW" sz="1600">
                <a:solidFill>
                  <a:srgbClr val="616161"/>
                </a:solidFill>
                <a:latin typeface="Noto Sans Mono"/>
                <a:ea typeface="Noto Sans Mono"/>
                <a:cs typeface="Noto Sans Mono"/>
                <a:sym typeface="Noto Sans Mono"/>
              </a:rPr>
              <a:t>Submit your source code and report to E3 before </a:t>
            </a:r>
            <a:r>
              <a:rPr lang="zh-TW" sz="1600" b="1">
                <a:solidFill>
                  <a:srgbClr val="616161"/>
                </a:solidFill>
                <a:latin typeface="Noto Sans Mono"/>
                <a:ea typeface="Noto Sans Mono"/>
                <a:cs typeface="Noto Sans Mono"/>
                <a:sym typeface="Noto Sans Mono"/>
              </a:rPr>
              <a:t>6/6(Fri.) 23:59</a:t>
            </a:r>
            <a:r>
              <a:rPr lang="zh-TW" sz="1600">
                <a:solidFill>
                  <a:srgbClr val="616161"/>
                </a:solidFill>
                <a:latin typeface="Noto Sans Mono"/>
                <a:ea typeface="Noto Sans Mono"/>
                <a:cs typeface="Noto Sans Mono"/>
                <a:sym typeface="Noto Sans Mono"/>
              </a:rPr>
              <a:t>, </a:t>
            </a:r>
            <a:r>
              <a:rPr lang="zh-TW" sz="1600" u="sng">
                <a:solidFill>
                  <a:srgbClr val="980000"/>
                </a:solidFill>
                <a:latin typeface="Noto Sans Mono"/>
                <a:ea typeface="Noto Sans Mono"/>
                <a:cs typeface="Noto Sans Mono"/>
                <a:sym typeface="Noto Sans Mono"/>
              </a:rPr>
              <a:t>no late submissions will be accepted</a:t>
            </a:r>
            <a:r>
              <a:rPr lang="zh-TW" sz="1600">
                <a:solidFill>
                  <a:srgbClr val="616161"/>
                </a:solidFill>
                <a:latin typeface="Noto Sans Mono"/>
                <a:ea typeface="Noto Sans Mono"/>
                <a:cs typeface="Noto Sans Mono"/>
                <a:sym typeface="Noto Sans Mono"/>
              </a:rPr>
              <a:t>.</a:t>
            </a:r>
            <a:endParaRPr sz="1600">
              <a:solidFill>
                <a:srgbClr val="616161"/>
              </a:solidFill>
              <a:latin typeface="Noto Sans Mono"/>
              <a:ea typeface="Noto Sans Mono"/>
              <a:cs typeface="Noto Sans Mono"/>
              <a:sym typeface="Noto Sans Mono"/>
            </a:endParaRPr>
          </a:p>
          <a:p>
            <a:pPr marL="457200" lvl="0" indent="-330200" algn="l" rtl="0">
              <a:lnSpc>
                <a:spcPct val="150000"/>
              </a:lnSpc>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Please submit your source code in </a:t>
            </a:r>
            <a:r>
              <a:rPr lang="zh-TW" sz="1600" b="1">
                <a:solidFill>
                  <a:srgbClr val="616161"/>
                </a:solidFill>
                <a:latin typeface="Noto Sans Mono"/>
                <a:ea typeface="Noto Sans Mono"/>
                <a:cs typeface="Noto Sans Mono"/>
                <a:sym typeface="Noto Sans Mono"/>
              </a:rPr>
              <a:t>python source (.py)</a:t>
            </a:r>
            <a:r>
              <a:rPr lang="zh-TW" sz="1600">
                <a:solidFill>
                  <a:srgbClr val="616161"/>
                </a:solidFill>
                <a:latin typeface="Noto Sans Mono"/>
                <a:ea typeface="Noto Sans Mono"/>
                <a:cs typeface="Noto Sans Mono"/>
                <a:sym typeface="Noto Sans Mono"/>
              </a:rPr>
              <a:t>. For jupyter notebooks, you can use the export function to obtain the executable script. </a:t>
            </a:r>
            <a:r>
              <a:rPr lang="zh-TW" sz="1600" b="1">
                <a:solidFill>
                  <a:srgbClr val="980000"/>
                </a:solidFill>
                <a:highlight>
                  <a:srgbClr val="FFE599"/>
                </a:highlight>
                <a:latin typeface="Noto Sans Mono"/>
                <a:ea typeface="Noto Sans Mono"/>
                <a:cs typeface="Noto Sans Mono"/>
                <a:sym typeface="Noto Sans Mono"/>
              </a:rPr>
              <a:t>Violation of this rule will cause a deduction of 5 points to your grade.</a:t>
            </a:r>
            <a:endParaRPr sz="1600">
              <a:solidFill>
                <a:srgbClr val="616161"/>
              </a:solidFill>
              <a:latin typeface="Noto Sans Mono"/>
              <a:ea typeface="Noto Sans Mono"/>
              <a:cs typeface="Noto Sans Mono"/>
              <a:sym typeface="Noto Sans Mono"/>
            </a:endParaRPr>
          </a:p>
          <a:p>
            <a:pPr marL="457200" lvl="0" indent="-330200" algn="l" rtl="0">
              <a:lnSpc>
                <a:spcPct val="150000"/>
              </a:lnSpc>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Do NOT put full code in your report.</a:t>
            </a:r>
            <a:r>
              <a:rPr lang="zh-TW" sz="1600">
                <a:solidFill>
                  <a:srgbClr val="616161"/>
                </a:solidFill>
                <a:latin typeface="Noto Sans Mono"/>
                <a:ea typeface="Noto Sans Mono"/>
                <a:cs typeface="Noto Sans Mono"/>
                <a:sym typeface="Noto Sans Mono"/>
              </a:rPr>
              <a:t> Only short code snippets and pseudocode (for demonstration purposes) are allowed, and they should be properly formatted.</a:t>
            </a:r>
            <a:endParaRPr sz="1600">
              <a:solidFill>
                <a:srgbClr val="616161"/>
              </a:solidFill>
              <a:latin typeface="Noto Sans Mono"/>
              <a:ea typeface="Noto Sans Mono"/>
              <a:cs typeface="Noto Sans Mono"/>
              <a:sym typeface="Noto Sans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E3 Submission</a:t>
            </a:r>
            <a:endParaRPr/>
          </a:p>
        </p:txBody>
      </p:sp>
      <p:sp>
        <p:nvSpPr>
          <p:cNvPr id="279" name="Google Shape;279;p41"/>
          <p:cNvSpPr txBox="1">
            <a:spLocks noGrp="1"/>
          </p:cNvSpPr>
          <p:nvPr>
            <p:ph type="body" idx="1"/>
          </p:nvPr>
        </p:nvSpPr>
        <p:spPr>
          <a:xfrm>
            <a:off x="729450" y="2078875"/>
            <a:ext cx="7688700" cy="2952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1600" b="1">
                <a:solidFill>
                  <a:srgbClr val="616161"/>
                </a:solidFill>
                <a:latin typeface="Noto Sans Mono"/>
                <a:ea typeface="Noto Sans Mono"/>
                <a:cs typeface="Noto Sans Mono"/>
                <a:sym typeface="Noto Sans Mono"/>
              </a:rPr>
              <a:t>Submission format:</a:t>
            </a:r>
            <a:endParaRPr sz="1600" b="1">
              <a:solidFill>
                <a:srgbClr val="616161"/>
              </a:solidFill>
              <a:latin typeface="Noto Sans Mono"/>
              <a:ea typeface="Noto Sans Mono"/>
              <a:cs typeface="Noto Sans Mono"/>
              <a:sym typeface="Noto Sans Mono"/>
            </a:endParaRPr>
          </a:p>
          <a:p>
            <a:pPr marL="457200" lvl="0" indent="-330200" algn="l" rtl="0">
              <a:spcBef>
                <a:spcPts val="120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hw3_&lt;student_id&gt;.zip</a:t>
            </a:r>
            <a:endParaRPr sz="1600">
              <a:solidFill>
                <a:srgbClr val="616161"/>
              </a:solidFill>
              <a:latin typeface="Noto Sans Mono"/>
              <a:ea typeface="Noto Sans Mono"/>
              <a:cs typeface="Noto Sans Mono"/>
              <a:sym typeface="Noto Sans Mono"/>
            </a:endParaRPr>
          </a:p>
          <a:p>
            <a:pPr marL="914400" lvl="1" indent="-330200" algn="l" rtl="0">
              <a:spcBef>
                <a:spcPts val="0"/>
              </a:spcBef>
              <a:spcAft>
                <a:spcPts val="0"/>
              </a:spcAft>
              <a:buClr>
                <a:srgbClr val="616161"/>
              </a:buClr>
              <a:buSzPts val="1600"/>
              <a:buChar char="○"/>
            </a:pPr>
            <a:r>
              <a:rPr lang="zh-TW" sz="1600" b="1">
                <a:solidFill>
                  <a:srgbClr val="616161"/>
                </a:solidFill>
                <a:latin typeface="Noto Sans Mono"/>
                <a:ea typeface="Noto Sans Mono"/>
                <a:cs typeface="Noto Sans Mono"/>
                <a:sym typeface="Noto Sans Mono"/>
              </a:rPr>
              <a:t>source code:</a:t>
            </a:r>
            <a:r>
              <a:rPr lang="zh-TW" sz="1600">
                <a:solidFill>
                  <a:srgbClr val="616161"/>
                </a:solidFill>
                <a:latin typeface="Noto Sans Mono"/>
                <a:ea typeface="Noto Sans Mono"/>
                <a:cs typeface="Noto Sans Mono"/>
                <a:sym typeface="Noto Sans Mono"/>
              </a:rPr>
              <a:t> hw3_&lt;student_id&gt;.py or other library files (.py) you made </a:t>
            </a:r>
            <a:r>
              <a:rPr lang="zh-TW" sz="1600" b="1">
                <a:solidFill>
                  <a:srgbClr val="616161"/>
                </a:solidFill>
                <a:latin typeface="Noto Sans Mono"/>
                <a:ea typeface="Noto Sans Mono"/>
                <a:cs typeface="Noto Sans Mono"/>
                <a:sym typeface="Noto Sans Mono"/>
              </a:rPr>
              <a:t>(python files only!)</a:t>
            </a:r>
            <a:endParaRPr sz="1600" b="1">
              <a:solidFill>
                <a:srgbClr val="616161"/>
              </a:solidFill>
              <a:latin typeface="Noto Sans Mono"/>
              <a:ea typeface="Noto Sans Mono"/>
              <a:cs typeface="Noto Sans Mono"/>
              <a:sym typeface="Noto Sans Mono"/>
            </a:endParaRPr>
          </a:p>
          <a:p>
            <a:pPr marL="914400" lvl="1" indent="-330200" algn="l" rtl="0">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report:</a:t>
            </a:r>
            <a:r>
              <a:rPr lang="zh-TW" sz="1600">
                <a:solidFill>
                  <a:srgbClr val="616161"/>
                </a:solidFill>
                <a:latin typeface="Noto Sans Mono"/>
                <a:ea typeface="Noto Sans Mono"/>
                <a:cs typeface="Noto Sans Mono"/>
                <a:sym typeface="Noto Sans Mono"/>
              </a:rPr>
              <a:t> hw3_&lt;student_id&gt;.pdf</a:t>
            </a:r>
            <a:endParaRPr sz="1600">
              <a:solidFill>
                <a:srgbClr val="616161"/>
              </a:solidFill>
              <a:latin typeface="Noto Sans Mono"/>
              <a:ea typeface="Noto Sans Mono"/>
              <a:cs typeface="Noto Sans Mono"/>
              <a:sym typeface="Noto Sans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Contact</a:t>
            </a:r>
            <a:endParaRPr/>
          </a:p>
        </p:txBody>
      </p:sp>
      <p:sp>
        <p:nvSpPr>
          <p:cNvPr id="285" name="Google Shape;285;p42"/>
          <p:cNvSpPr txBox="1">
            <a:spLocks noGrp="1"/>
          </p:cNvSpPr>
          <p:nvPr>
            <p:ph type="body" idx="1"/>
          </p:nvPr>
        </p:nvSpPr>
        <p:spPr>
          <a:xfrm>
            <a:off x="729450" y="2078875"/>
            <a:ext cx="7688700" cy="2952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If you have any questions about Final Project, please feel free to contact with TA by email:</a:t>
            </a:r>
            <a:endParaRPr sz="1600">
              <a:solidFill>
                <a:srgbClr val="616161"/>
              </a:solidFill>
              <a:latin typeface="Noto Sans Mono"/>
              <a:ea typeface="Noto Sans Mono"/>
              <a:cs typeface="Noto Sans Mono"/>
              <a:sym typeface="Noto Sans Mono"/>
            </a:endParaRPr>
          </a:p>
          <a:p>
            <a:pPr marL="914400" lvl="1" indent="-330200" algn="l" rtl="0">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Hank Chen (</a:t>
            </a:r>
            <a:r>
              <a:rPr lang="zh-TW" sz="1600" u="sng">
                <a:solidFill>
                  <a:schemeClr val="hlink"/>
                </a:solidFill>
                <a:latin typeface="Noto Sans Mono"/>
                <a:ea typeface="Noto Sans Mono"/>
                <a:cs typeface="Noto Sans Mono"/>
                <a:sym typeface="Noto Sans Mono"/>
                <a:hlinkClick r:id="rId3"/>
              </a:rPr>
              <a:t>bwchen@cs.nycu.edu.tw</a:t>
            </a:r>
            <a:r>
              <a:rPr lang="zh-TW" sz="1600">
                <a:solidFill>
                  <a:srgbClr val="616161"/>
                </a:solidFill>
                <a:latin typeface="Noto Sans Mono"/>
                <a:ea typeface="Noto Sans Mono"/>
                <a:cs typeface="Noto Sans Mono"/>
                <a:sym typeface="Noto Sans Mono"/>
              </a:rPr>
              <a:t>)</a:t>
            </a:r>
            <a:endParaRPr sz="1600">
              <a:solidFill>
                <a:srgbClr val="616161"/>
              </a:solidFill>
              <a:latin typeface="Noto Sans Mono"/>
              <a:ea typeface="Noto Sans Mono"/>
              <a:cs typeface="Noto Sans Mono"/>
              <a:sym typeface="Noto Sans Mono"/>
            </a:endParaRPr>
          </a:p>
          <a:p>
            <a:pPr marL="914400" lvl="0" indent="0" algn="l" rtl="0">
              <a:spcBef>
                <a:spcPts val="1200"/>
              </a:spcBef>
              <a:spcAft>
                <a:spcPts val="0"/>
              </a:spcAft>
              <a:buNone/>
            </a:pPr>
            <a:endParaRPr sz="1600">
              <a:solidFill>
                <a:srgbClr val="616161"/>
              </a:solidFill>
              <a:latin typeface="Noto Sans Mono"/>
              <a:ea typeface="Noto Sans Mono"/>
              <a:cs typeface="Noto Sans Mono"/>
              <a:sym typeface="Noto Sans Mono"/>
            </a:endParaRPr>
          </a:p>
          <a:p>
            <a:pPr marL="457200" lvl="0" indent="-330200" algn="l" rtl="0">
              <a:spcBef>
                <a:spcPts val="120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Kindly format your email</a:t>
            </a:r>
            <a:r>
              <a:rPr lang="zh-TW" sz="1600">
                <a:solidFill>
                  <a:srgbClr val="616161"/>
                </a:solidFill>
                <a:latin typeface="Noto Sans Mono"/>
                <a:ea typeface="Noto Sans Mono"/>
                <a:cs typeface="Noto Sans Mono"/>
                <a:sym typeface="Noto Sans Mono"/>
              </a:rPr>
              <a:t> so that I can reply it ASAP.</a:t>
            </a:r>
            <a:endParaRPr sz="1600">
              <a:solidFill>
                <a:srgbClr val="616161"/>
              </a:solidFill>
              <a:latin typeface="Noto Sans Mono"/>
              <a:ea typeface="Noto Sans Mono"/>
              <a:cs typeface="Noto Sans Mono"/>
              <a:sym typeface="Noto Sans Mono"/>
            </a:endParaRPr>
          </a:p>
          <a:p>
            <a:pPr marL="914400" lvl="1" indent="-330200" algn="l" rtl="0">
              <a:spcBef>
                <a:spcPts val="0"/>
              </a:spcBef>
              <a:spcAft>
                <a:spcPts val="0"/>
              </a:spcAft>
              <a:buClr>
                <a:srgbClr val="616161"/>
              </a:buClr>
              <a:buSzPts val="1600"/>
              <a:buFont typeface="Noto Sans Mono"/>
              <a:buChar char="○"/>
            </a:pPr>
            <a:r>
              <a:rPr lang="zh-TW" sz="1600" b="1">
                <a:solidFill>
                  <a:srgbClr val="616161"/>
                </a:solidFill>
                <a:latin typeface="Noto Sans Mono"/>
                <a:ea typeface="Noto Sans Mono"/>
                <a:cs typeface="Noto Sans Mono"/>
                <a:sym typeface="Noto Sans Mono"/>
              </a:rPr>
              <a:t>Prefix your email title with [DM]</a:t>
            </a:r>
            <a:r>
              <a:rPr lang="zh-TW" sz="1600">
                <a:solidFill>
                  <a:srgbClr val="616161"/>
                </a:solidFill>
                <a:latin typeface="Noto Sans Mono"/>
                <a:ea typeface="Noto Sans Mono"/>
                <a:cs typeface="Noto Sans Mono"/>
                <a:sym typeface="Noto Sans Mono"/>
              </a:rPr>
              <a:t>. (e.g. [DM] Questions about Final Project)</a:t>
            </a:r>
            <a:endParaRPr sz="1600">
              <a:solidFill>
                <a:srgbClr val="616161"/>
              </a:solidFill>
              <a:latin typeface="Noto Sans Mono"/>
              <a:ea typeface="Noto Sans Mono"/>
              <a:cs typeface="Noto Sans Mono"/>
              <a:sym typeface="Noto Sans Mono"/>
            </a:endParaRPr>
          </a:p>
          <a:p>
            <a:pPr marL="914400" lvl="1" indent="-330200" algn="l" rtl="0">
              <a:spcBef>
                <a:spcPts val="0"/>
              </a:spcBef>
              <a:spcAft>
                <a:spcPts val="0"/>
              </a:spcAft>
              <a:buClr>
                <a:srgbClr val="616161"/>
              </a:buClr>
              <a:buSzPts val="1600"/>
              <a:buFont typeface="Noto Sans Mono"/>
              <a:buChar char="○"/>
            </a:pPr>
            <a:r>
              <a:rPr lang="zh-TW" sz="1600">
                <a:solidFill>
                  <a:srgbClr val="616161"/>
                </a:solidFill>
                <a:latin typeface="Noto Sans Mono"/>
                <a:ea typeface="Noto Sans Mono"/>
                <a:cs typeface="Noto Sans Mono"/>
                <a:sym typeface="Noto Sans Mono"/>
              </a:rPr>
              <a:t>Attach your student ID if necessary.</a:t>
            </a:r>
            <a:endParaRPr sz="1600">
              <a:solidFill>
                <a:srgbClr val="616161"/>
              </a:solidFill>
              <a:latin typeface="Noto Sans Mono"/>
              <a:ea typeface="Noto Sans Mono"/>
              <a:cs typeface="Noto Sans Mono"/>
              <a:sym typeface="Noto Sans Mono"/>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1744</Words>
  <Application>Microsoft Office PowerPoint</Application>
  <PresentationFormat>如螢幕大小 (16:9)</PresentationFormat>
  <Paragraphs>150</Paragraphs>
  <Slides>35</Slides>
  <Notes>31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35</vt:i4>
      </vt:variant>
    </vt:vector>
  </HeadingPairs>
  <TitlesOfParts>
    <vt:vector size="42" baseType="lpstr">
      <vt:lpstr>Proxima Nova</vt:lpstr>
      <vt:lpstr>Cambria Math</vt:lpstr>
      <vt:lpstr>Raleway</vt:lpstr>
      <vt:lpstr>Arial</vt:lpstr>
      <vt:lpstr>Noto Sans Mono</vt:lpstr>
      <vt:lpstr>Lato</vt:lpstr>
      <vt:lpstr>Streamline</vt:lpstr>
      <vt:lpstr>Data Mining  HW3: News Recommendation Prediction</vt:lpstr>
      <vt:lpstr>Task Description</vt:lpstr>
      <vt:lpstr>Dataset</vt:lpstr>
      <vt:lpstr>Dataset (cont.)</vt:lpstr>
      <vt:lpstr>Dataset (cont.) - behaviors.tsv -train  </vt:lpstr>
      <vt:lpstr>Dataset (cont.) - behaviors.tsv -test  </vt:lpstr>
      <vt:lpstr>Dataset (cont.) </vt:lpstr>
      <vt:lpstr>Dataset (cont.) </vt:lpstr>
      <vt:lpstr>Dataset (cont.) - news.tsv -train </vt:lpstr>
      <vt:lpstr>Dataset (cont.) - news.tsv -test </vt:lpstr>
      <vt:lpstr>Dataset (cont.) </vt:lpstr>
      <vt:lpstr>Dataset (cont.) - entity_embedding.vec - train </vt:lpstr>
      <vt:lpstr>Dataset (cont.) - entity_embedding.vec - test</vt:lpstr>
      <vt:lpstr>Kaggle</vt:lpstr>
      <vt:lpstr>Kaggle (cont.)</vt:lpstr>
      <vt:lpstr>Kaggle (cont.)</vt:lpstr>
      <vt:lpstr>Kaggle Submission Format</vt:lpstr>
      <vt:lpstr>Kaggle Submission Format</vt:lpstr>
      <vt:lpstr>Baseline Approach </vt:lpstr>
      <vt:lpstr>Baseline Approach</vt:lpstr>
      <vt:lpstr>Baseline Approach </vt:lpstr>
      <vt:lpstr>Baseline Approach </vt:lpstr>
      <vt:lpstr>Baseline Approach </vt:lpstr>
      <vt:lpstr>Baseline Approach </vt:lpstr>
      <vt:lpstr>Tips</vt:lpstr>
      <vt:lpstr>Report</vt:lpstr>
      <vt:lpstr>Report (cont.)</vt:lpstr>
      <vt:lpstr>Report (cont.)</vt:lpstr>
      <vt:lpstr>Grading Policy</vt:lpstr>
      <vt:lpstr>Grading Policy - Kaggle</vt:lpstr>
      <vt:lpstr>Grading Policy - Kaggle</vt:lpstr>
      <vt:lpstr>Grading Policy - Kaggle</vt:lpstr>
      <vt:lpstr>E3 Submission</vt:lpstr>
      <vt:lpstr>E3 Submission</vt:lpstr>
      <vt:lpstr>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HW3: News Recommendation Prediction</dc:title>
  <dc:creator>s1092</dc:creator>
  <cp:lastModifiedBy>s10927207@gmail.com</cp:lastModifiedBy>
  <cp:revision>3</cp:revision>
  <dcterms:modified xsi:type="dcterms:W3CDTF">2025-06-03T14:06:10Z</dcterms:modified>
</cp:coreProperties>
</file>